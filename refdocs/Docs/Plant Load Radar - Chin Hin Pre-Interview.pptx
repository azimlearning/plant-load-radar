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Azim, a final-year Computer Science student majoring in Data Analytics at UTP. I'm pitching Plant Load Radar for Chin Hin's Capacity and Demand Intelligence challenge. In one sentence: when a plant can't serve everyone, it should decide who goes first by what's actually at stake in ringgit, and it should do that every week, with a clear owner, in tools it already has. I'll spend one slide on the problem, then go straight into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on one page. Chin Hin's plants make AAC blocks, precast and ready-mix for two customers: outside contractors, and Chin Hin's own projects, which are growing fast. Property revenue grew 31 percent and construction 22 percent in the first half of this financial year. When capacity is tight, the plant naturally chases volume and margin, while the group wants its own projects on schedule. Both are reasonable, but there's no shared rule, so it's decided deal by deal. On top of that, each plant forecasts on its own in spreadsheets, so there's excess stock in one place and missed orders in another. And the brief rules out the easy answers: no new ERP, no consultant, no transfer-pricing policy, and no escalating it upwards.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my answer: Plant Load Radar. It's three things. One, a rule: when capacity is short, serve whichever request has more ringgit at stake, the internal project's cost of delay or the outside order's margin. Two, an owner: the plant scheduler applies that rule every week, and anything the rule can't settle goes to a 30-minute huddle, not up the chain. Three, a board: one view of all committed demand against capacity, built in Excel and Power Apps, which the plant can actually run. Underneath, an agentic AI layer does the legwork: it reads messy WhatsApp and paper orders, tests the options against capacity, and drafts the messages. But the maths comes from a calculator, and people make the call. Let me take each part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rule. When capacity is short, the request with more ringgit at stake goes first. Here's an example. Week 43 is 2,000 cubic metres short. Project A is one of Chin Hin's own developments. If its handover slips past the legal deadline, the Housing Development Act makes the developer pay buyers 10 percent a year of the purchase price, day by day. For a 300 million ringgit block, that's about 82,000 ringgit a day. Contractor B's order is worth about 18,000 ringgit in margin. So Project A goes first, and Contractor B is offered the next free week instead of being turned away. To keep it fair, there are four rules of thumb. Projects that confirm call-offs early get protected capacity, but unused slots are released. Confirmed orders are never bumped, so the rule only decides new requests. If it's a close call, the earlier confirmed request wins. And because AAC can be stocked, quiet weeks pre-build for busy ones, within a stock limit so we don't tie up cash. These numbers are illustrative; the real ones come from Chin Hin's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owner. A rule only works if someone clearly applies it. Project planners and sales confirm orders and call-offs as early as they can, because early confirmation earns protected capacity. The plant scheduler updates the board every week and applies the rule. If something genuinely doesn't fit, the plant manager and the project director settle it in a fixed 30-minute weekly huddle, using the same ringgit comparison. And group finance reviews the ringgit saved and lost once a month. The key point: nothing goes up the chain. The brief rules out escalation, and this design doesn't need it, because the plant manager owns every decision made within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board, and how the whole thing runs in a normal week. One: orders arrive the way they do today, by WhatsApp, on paper delivery orders, or in Excel. Two: an intake agent reads each one and turns it into a clean order line, and a person confirms anything it isn't sure about. Three: everything lands on one board, capacity against firm, likely and possible demand, week by week, internal and external together. Four: a planner agent finds the short weeks and tests the options, serve, move to another week, or pre-build stock, using the rule calculator. Five: the scheduler approves, and generative AI drafts the replies to customers and the ledger note. It all runs on Excel or SharePoint with a Power Apps front end, so there's no new ERP. Agents do the legwork, a calculator does the maths, and people make the call. Next, the AI layer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AI layer itself, and this is where my background comes in. It's an agentic pipeline of four agents with one human checkpoint. Agent one, intake, reads WhatsApp messages, photos of paper delivery orders and Excel files, and turns them into structured order lines. Agent two, matching, links each order to the right project or customer, removes duplicates, and tags it firm, likely or possible. Agent three, the planner, finds short weeks and tests the options, serve, move to another week, or pre-build stock, by calling the capacity check and the rule calculator as tools. Agent four, the writer, uses generative AI to draft the huddle brief, the customer replies and the ledger notes. Then the scheduler approves; nothing is sent or committed without a person. Three guardrails make it trustworthy: the numbers always come from tools, never from the model; every field shows its source and how confident the agent is; and it's orchestrated with LangGraph or Microsoft Foundry, triggered from Power Automate, so it fits Chin Hin's Microsoft stack. What's still premature is forecasting models and letting AI decide; those come later, once the data is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intake agent up close, because this is where AI genuinely earns its place first. On the left is what an order really looks like at a plant: a WhatsApp message, short, informal, half in shorthand. On the right is what the board receives: customer, product, volume, date, each marked confirmed. The last field is the interesting one. The message says "can confirm" but there's no formal call-off yet, so the AI marks it as likely, not firm, and flags it for a person to check. That's the design principle: if the AI isn't sure, it asks; it never guesses. It's the same source-first approach I used for VERA, the knowledge assistant I built during my PETRONAS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scheduler would actually use: Plant Load Radar in one screen. On the left, simple navigation: the board, the orders inbox, decisions, the ledger, and "ask the board". At the top, four numbers: two weeks are short, three new orders need checking, one decision is waiting, and the plant has protected about 246,000 ringgit this month. The chart shows spare or short capacity for the next six weeks, so you can see at a glance that week 43 is 2,000 cubic metres short and week 44 has 4,100 spare. The red card on the right is the planner agent's recommendation, with the ringgit on both sides, and the scheduler just taps approve or change. At the bottom is the orders inbox: everything the intake agent read this morning, from WhatsApp and paper, with anything uncertain marked for checking. It's built in Power Apps on top of Excel or SharePoint, so the plant doesn't need a new system. All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generative AI earns its keep: the writing that eats a scheduler's time. On the left, the writer agent drafts the weekly huddle brief for the plant manager: what's short, what's recommended and why in ringgit, and the one decision that actually needs his call. On the right, it drafts the WhatsApp reply to Contractor B, offering the next free week instead of a flat no. It waits for approval; the scheduler taps approve or edits it first. And at the bottom, the scheduler can simply ask the board a question in plain language, like whether we can take 800 cubic metres for Johor next week, and the agent answers by running the calculator, not by guessing. All the numbers come from the rule calculator; the model only writes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we'd roll it out, at one plant first, over about three months. Month one is understand and build: sit with the scheduler, rebuild recent decisions from WhatsApp and paper so we know what today actually costs, and build the dashboard and the agents. By the end of month one, the plant has a working dashboard with its real orders. Month two is agree and go live: agree the rule with the plant manager and a project director, start the weekly 30-minute huddle, and log every decision with its ringgit. By the end, the plant is deciding by the rule every week. Month three is measure and decide: compare cash, margin and delays with before, fix what didn't work, and decide whether to roll it out to precast and ready-mix. We'll know it worked if we see cash released from excess stock, outside margin no longer lost, and fewer project delay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about me. On achievements: I've been on the Dean's List three times, I have an IEEE paper accepted at MCAIT 2026, which I'll present in Madinah, my team EduNova qualified for the HACKaSTONE 2026 Grand Final in Amsterdam, and we presented Synapse at Codex Community Day. Outside tech, I led UTP's esports club, and our team won gold twice and went on to represent Malaysia in Singapore. On projects: I built VERA, a RAG knowledge assistant, during my PETRONAS internship; I'm the technical lead for system automations at UTP's Career Development Office, where I rebuilt 14 undocumented Power Automate flows; my final-year project Arcana is a multi-agent pipeline on LangGraph, the same pattern as the agent layer I'm proposing; and I founded PocketLab to take Synapse further. I've also led and organised: the esports club, the LEADX symposium sponsorship committee, GDSC, and an outreach programme in Seoul. The common thread: I build agentic and generative AI that people actually use, and I can show the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one rule, one owner, one board, with agents doing the legwork and people making the call. Thank you for your time,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880"/>
          </a:xfrm>
          <a:prstGeom prst="rect">
            <a:avLst/>
          </a:prstGeom>
          <a:noFill/>
          <a:ln/>
        </p:spPr>
        <p:txBody>
          <a:bodyPr wrap="square" lIns="0" tIns="0" rIns="0" bIns="0" rtlCol="0" anchor="t"/>
          <a:lstStyle>
            <a:lvl1pPr algn="l" indent="0" marL="0">
              <a:lnSpc>
                <a:spcPct val="115000"/>
              </a:lnSpc>
              <a:buNone/>
              <a:defRPr lang="en-US" sz="2800" dirty="0">
                <a:solidFill>
                  <a:srgbClr val="1B1F1C"/>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01"/>
            <a:ext cx="10566400" cy="4229199"/>
          </a:xfrm>
          <a:prstGeom prst="rect">
            <a:avLst/>
          </a:prstGeom>
          <a:noFill/>
          <a:ln/>
        </p:spPr>
        <p:txBody>
          <a:bodyPr wrap="square" lIns="0" tIns="0" rIns="0" bIns="0" rtlCol="0" anchor="t"/>
          <a:lstStyle>
            <a:lvl1pPr algn="l" indent="0" marL="0">
              <a:lnSpc>
                <a:spcPct val="140000"/>
              </a:lnSpc>
              <a:buNone/>
              <a:defRPr lang="en-US" sz="1600" dirty="0">
                <a:solidFill>
                  <a:srgbClr val="1B1F1C"/>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08880"/>
          </a:xfrm>
          <a:prstGeom prst="rect">
            <a:avLst/>
          </a:prstGeom>
          <a:noFill/>
          <a:ln/>
        </p:spPr>
        <p:txBody>
          <a:bodyPr wrap="square" lIns="0" tIns="0" rIns="0" bIns="0" rtlCol="0" anchor="t"/>
          <a:lstStyle>
            <a:lvl1pPr algn="l" indent="0" marL="0">
              <a:lnSpc>
                <a:spcPct val="115000"/>
              </a:lnSpc>
              <a:buNone/>
              <a:defRPr lang="en-US" sz="2800" dirty="0">
                <a:solidFill>
                  <a:srgbClr val="1B1F1C"/>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16001"/>
            <a:ext cx="10566400" cy="4229199"/>
          </a:xfrm>
          <a:prstGeom prst="rect">
            <a:avLst/>
          </a:prstGeom>
          <a:noFill/>
          <a:ln/>
        </p:spPr>
        <p:txBody>
          <a:bodyPr wrap="square" lIns="0" tIns="0" rIns="0" bIns="0" rtlCol="0" anchor="t"/>
          <a:lstStyle>
            <a:lvl1pPr algn="l" indent="0" marL="0">
              <a:lnSpc>
                <a:spcPct val="140000"/>
              </a:lnSpc>
              <a:buNone/>
              <a:defRPr lang="en-US" sz="1600" dirty="0">
                <a:solidFill>
                  <a:srgbClr val="1B1F1C"/>
                </a:solidFill>
                <a:latin typeface="Plus Jakarta Sans" pitchFamily="34" charset="0"/>
                <a:ea typeface="Plus Jakarta Sans" pitchFamily="34" charset="-122"/>
                <a:cs typeface="Plus Jakarta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Chin Hin Group · Capacity &amp; Demand Intelligence · Kabel YEI 3.0</a:t>
            </a:r>
            <a:endParaRPr lang="en-US" sz="1200" dirty="0"/>
          </a:p>
        </p:txBody>
      </p:sp>
      <p:sp>
        <p:nvSpPr>
          <p:cNvPr id="3" name="Shape 1"/>
          <p:cNvSpPr/>
          <p:nvPr/>
        </p:nvSpPr>
        <p:spPr>
          <a:xfrm>
            <a:off x="812800" y="2401590"/>
            <a:ext cx="762000" cy="50800"/>
          </a:xfrm>
          <a:prstGeom prst="roundRect">
            <a:avLst>
              <a:gd name="adj" fmla="val 50000"/>
            </a:avLst>
          </a:prstGeom>
          <a:solidFill>
            <a:srgbClr val="1F6B45"/>
          </a:solidFill>
          <a:ln/>
        </p:spPr>
      </p:sp>
      <p:sp>
        <p:nvSpPr>
          <p:cNvPr id="4" name="Text 2"/>
          <p:cNvSpPr/>
          <p:nvPr>
            <p:ph type="title"/>
          </p:nvPr>
        </p:nvSpPr>
        <p:spPr>
          <a:xfrm>
            <a:off x="812800" y="263019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B1F1C"/>
                </a:solidFill>
                <a:latin typeface="Plus Jakarta Sans" pitchFamily="34" charset="0"/>
                <a:ea typeface="Plus Jakarta Sans" pitchFamily="34" charset="-122"/>
                <a:cs typeface="Plus Jakarta Sans" pitchFamily="34" charset="-120"/>
              </a:rPr>
              <a:t>Plant Load Radar</a:t>
            </a:r>
            <a:endParaRPr lang="en-US" sz="4800" dirty="0"/>
          </a:p>
        </p:txBody>
      </p:sp>
      <p:sp>
        <p:nvSpPr>
          <p:cNvPr id="5" name="Text 3"/>
          <p:cNvSpPr/>
          <p:nvPr/>
        </p:nvSpPr>
        <p:spPr>
          <a:xfrm>
            <a:off x="812800" y="3448050"/>
            <a:ext cx="85026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3D443F"/>
                </a:solidFill>
                <a:latin typeface="Plus Jakarta Sans" pitchFamily="34" charset="0"/>
                <a:ea typeface="Plus Jakarta Sans" pitchFamily="34" charset="-122"/>
                <a:cs typeface="Plus Jakarta Sans" pitchFamily="34" charset="-120"/>
              </a:rPr>
              <a:t>Who gets the capacity when there isn't enough, decided by what's at stake in ringgit</a:t>
            </a:r>
            <a:endParaRPr lang="en-US" sz="2000" dirty="0"/>
          </a:p>
        </p:txBody>
      </p:sp>
      <p:sp>
        <p:nvSpPr>
          <p:cNvPr id="6" name="Text 4"/>
          <p:cNvSpPr/>
          <p:nvPr/>
        </p:nvSpPr>
        <p:spPr>
          <a:xfrm>
            <a:off x="812800" y="5509320"/>
            <a:ext cx="572937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Fakhrul Azim Bin Ahmed Mardzukie</a:t>
            </a:r>
            <a:endParaRPr lang="en-US" sz="1600" dirty="0"/>
          </a:p>
        </p:txBody>
      </p:sp>
      <p:sp>
        <p:nvSpPr>
          <p:cNvPr id="7" name="Text 5"/>
          <p:cNvSpPr/>
          <p:nvPr/>
        </p:nvSpPr>
        <p:spPr>
          <a:xfrm>
            <a:off x="812800" y="5831880"/>
            <a:ext cx="6675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Final-year Computer Science (Data Analytics) · Universiti Teknologi PETRONAS</a:t>
            </a:r>
            <a:endParaRPr lang="en-US" sz="1200" dirty="0"/>
          </a:p>
        </p:txBody>
      </p:sp>
      <p:sp>
        <p:nvSpPr>
          <p:cNvPr id="8" name="Text 6"/>
          <p:cNvSpPr/>
          <p:nvPr/>
        </p:nvSpPr>
        <p:spPr>
          <a:xfrm>
            <a:off x="9991646" y="5831880"/>
            <a:ext cx="13875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6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Two fair priorities, and no shared rule</a:t>
            </a:r>
            <a:endParaRPr lang="en-US" sz="2800" dirty="0"/>
          </a:p>
        </p:txBody>
      </p:sp>
      <p:sp>
        <p:nvSpPr>
          <p:cNvPr id="3" name="Shape 1"/>
          <p:cNvSpPr/>
          <p:nvPr/>
        </p:nvSpPr>
        <p:spPr>
          <a:xfrm>
            <a:off x="819150" y="1588691"/>
            <a:ext cx="3077567" cy="967680"/>
          </a:xfrm>
          <a:prstGeom prst="roundRect">
            <a:avLst>
              <a:gd name="adj" fmla="val 9843"/>
            </a:avLst>
          </a:prstGeom>
          <a:solidFill>
            <a:srgbClr val="FFFFFF"/>
          </a:solidFill>
          <a:ln w="12700">
            <a:solidFill>
              <a:srgbClr val="E2E2DC"/>
            </a:solidFill>
            <a:prstDash val="solid"/>
          </a:ln>
        </p:spPr>
      </p:sp>
      <p:sp>
        <p:nvSpPr>
          <p:cNvPr id="4" name="Text 2"/>
          <p:cNvSpPr/>
          <p:nvPr/>
        </p:nvSpPr>
        <p:spPr>
          <a:xfrm>
            <a:off x="1028700" y="1798241"/>
            <a:ext cx="273822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Outside contractors</a:t>
            </a:r>
            <a:endParaRPr lang="en-US" sz="1600" dirty="0"/>
          </a:p>
        </p:txBody>
      </p:sp>
      <p:sp>
        <p:nvSpPr>
          <p:cNvPr id="5" name="Text 3"/>
          <p:cNvSpPr/>
          <p:nvPr/>
        </p:nvSpPr>
        <p:spPr>
          <a:xfrm>
            <a:off x="1028700" y="2133501"/>
            <a:ext cx="27382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Want reliable supply at market price</a:t>
            </a:r>
            <a:endParaRPr lang="en-US" sz="1200" dirty="0"/>
          </a:p>
        </p:txBody>
      </p:sp>
      <p:sp>
        <p:nvSpPr>
          <p:cNvPr id="6" name="Text 4"/>
          <p:cNvSpPr/>
          <p:nvPr/>
        </p:nvSpPr>
        <p:spPr>
          <a:xfrm>
            <a:off x="4030067" y="1894681"/>
            <a:ext cx="4064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646B66"/>
                </a:solidFill>
                <a:latin typeface="Plus Jakarta Sans" pitchFamily="34" charset="0"/>
                <a:ea typeface="Plus Jakarta Sans" pitchFamily="34" charset="-122"/>
                <a:cs typeface="Plus Jakarta Sans" pitchFamily="34" charset="-120"/>
              </a:rPr>
              <a:t>←</a:t>
            </a:r>
            <a:endParaRPr lang="en-US" sz="2000" dirty="0"/>
          </a:p>
        </p:txBody>
      </p:sp>
      <p:sp>
        <p:nvSpPr>
          <p:cNvPr id="7" name="Shape 5"/>
          <p:cNvSpPr/>
          <p:nvPr/>
        </p:nvSpPr>
        <p:spPr>
          <a:xfrm>
            <a:off x="4563467" y="1595041"/>
            <a:ext cx="3064966" cy="954980"/>
          </a:xfrm>
          <a:prstGeom prst="roundRect">
            <a:avLst>
              <a:gd name="adj" fmla="val 10639"/>
            </a:avLst>
          </a:prstGeom>
          <a:solidFill>
            <a:srgbClr val="1F6B45"/>
          </a:solidFill>
          <a:ln/>
        </p:spPr>
      </p:sp>
      <p:sp>
        <p:nvSpPr>
          <p:cNvPr id="8" name="Text 6"/>
          <p:cNvSpPr/>
          <p:nvPr/>
        </p:nvSpPr>
        <p:spPr>
          <a:xfrm>
            <a:off x="4766667" y="1798241"/>
            <a:ext cx="273832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Plus Jakarta Sans" pitchFamily="34" charset="0"/>
                <a:ea typeface="Plus Jakarta Sans" pitchFamily="34" charset="-122"/>
                <a:cs typeface="Plus Jakarta Sans" pitchFamily="34" charset="-120"/>
              </a:rPr>
              <a:t>Chin Hin plant</a:t>
            </a:r>
            <a:endParaRPr lang="en-US" sz="1600" dirty="0"/>
          </a:p>
        </p:txBody>
      </p:sp>
      <p:sp>
        <p:nvSpPr>
          <p:cNvPr id="9" name="Text 7"/>
          <p:cNvSpPr/>
          <p:nvPr/>
        </p:nvSpPr>
        <p:spPr>
          <a:xfrm>
            <a:off x="4766667" y="2133501"/>
            <a:ext cx="27383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7DC"/>
                </a:solidFill>
                <a:latin typeface="Plus Jakarta Sans" pitchFamily="34" charset="0"/>
                <a:ea typeface="Plus Jakarta Sans" pitchFamily="34" charset="-122"/>
                <a:cs typeface="Plus Jakarta Sans" pitchFamily="34" charset="-120"/>
              </a:rPr>
              <a:t>AAC blocks, precast, ready-mix</a:t>
            </a:r>
            <a:endParaRPr lang="en-US" sz="1200" dirty="0"/>
          </a:p>
        </p:txBody>
      </p:sp>
      <p:sp>
        <p:nvSpPr>
          <p:cNvPr id="10" name="Text 8"/>
          <p:cNvSpPr/>
          <p:nvPr/>
        </p:nvSpPr>
        <p:spPr>
          <a:xfrm>
            <a:off x="7755434" y="1894681"/>
            <a:ext cx="40640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646B66"/>
                </a:solidFill>
                <a:latin typeface="Plus Jakarta Sans" pitchFamily="34" charset="0"/>
                <a:ea typeface="Plus Jakarta Sans" pitchFamily="34" charset="-122"/>
                <a:cs typeface="Plus Jakarta Sans" pitchFamily="34" charset="-120"/>
              </a:rPr>
              <a:t>→</a:t>
            </a:r>
            <a:endParaRPr lang="en-US" sz="2000" dirty="0"/>
          </a:p>
        </p:txBody>
      </p:sp>
      <p:sp>
        <p:nvSpPr>
          <p:cNvPr id="11" name="Shape 9"/>
          <p:cNvSpPr/>
          <p:nvPr/>
        </p:nvSpPr>
        <p:spPr>
          <a:xfrm>
            <a:off x="8295184" y="1482030"/>
            <a:ext cx="3077666" cy="1181001"/>
          </a:xfrm>
          <a:prstGeom prst="roundRect">
            <a:avLst>
              <a:gd name="adj" fmla="val 8065"/>
            </a:avLst>
          </a:prstGeom>
          <a:solidFill>
            <a:srgbClr val="FFFFFF"/>
          </a:solidFill>
          <a:ln w="12700">
            <a:solidFill>
              <a:srgbClr val="E2E2DC"/>
            </a:solidFill>
            <a:prstDash val="solid"/>
          </a:ln>
        </p:spPr>
      </p:sp>
      <p:sp>
        <p:nvSpPr>
          <p:cNvPr id="12" name="Text 10"/>
          <p:cNvSpPr/>
          <p:nvPr/>
        </p:nvSpPr>
        <p:spPr>
          <a:xfrm>
            <a:off x="8504734" y="1691580"/>
            <a:ext cx="273832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Chin Hin's own projects</a:t>
            </a:r>
            <a:endParaRPr lang="en-US" sz="1600" dirty="0"/>
          </a:p>
        </p:txBody>
      </p:sp>
      <p:sp>
        <p:nvSpPr>
          <p:cNvPr id="13" name="Text 11"/>
          <p:cNvSpPr/>
          <p:nvPr/>
        </p:nvSpPr>
        <p:spPr>
          <a:xfrm>
            <a:off x="8504734" y="2026841"/>
            <a:ext cx="273832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Property +31%, construction +22% in 1H FY26</a:t>
            </a:r>
            <a:endParaRPr lang="en-US" sz="1200" dirty="0"/>
          </a:p>
        </p:txBody>
      </p:sp>
      <p:sp>
        <p:nvSpPr>
          <p:cNvPr id="14" name="Text 12"/>
          <p:cNvSpPr/>
          <p:nvPr/>
        </p:nvSpPr>
        <p:spPr>
          <a:xfrm>
            <a:off x="4511080" y="2770981"/>
            <a:ext cx="3169841" cy="365720"/>
          </a:xfrm>
          <a:prstGeom prst="roundRect">
            <a:avLst>
              <a:gd name="adj" fmla="val 50000"/>
            </a:avLst>
          </a:prstGeom>
          <a:solidFill>
            <a:srgbClr val="F8E7E4"/>
          </a:solidFill>
          <a:ln/>
        </p:spPr>
        <p:txBody>
          <a:bodyPr wrap="none" lIns="0" tIns="0" rIns="0" bIns="0" rtlCol="0" anchor="ctr">
            <a:normAutofit/>
          </a:bodyPr>
          <a:lstStyle/>
          <a:p>
            <a:pPr algn="ctr" indent="0" marL="0">
              <a:lnSpc>
                <a:spcPts val="1680"/>
              </a:lnSpc>
              <a:buNone/>
            </a:pPr>
            <a:r>
              <a:rPr lang="en-US" sz="1200" b="1" dirty="0">
                <a:solidFill>
                  <a:srgbClr val="B03A2E"/>
                </a:solidFill>
                <a:latin typeface="Plus Jakarta Sans" pitchFamily="34" charset="0"/>
                <a:ea typeface="Plus Jakarta Sans" pitchFamily="34" charset="-122"/>
                <a:cs typeface="Plus Jakarta Sans" pitchFamily="34" charset="-120"/>
              </a:rPr>
              <a:t>When capacity is tight: who goes first?</a:t>
            </a:r>
            <a:endParaRPr lang="en-US" sz="1200" dirty="0"/>
          </a:p>
        </p:txBody>
      </p:sp>
      <p:sp>
        <p:nvSpPr>
          <p:cNvPr id="15" name="Text 13"/>
          <p:cNvSpPr/>
          <p:nvPr/>
        </p:nvSpPr>
        <p:spPr>
          <a:xfrm>
            <a:off x="812800" y="3390702"/>
            <a:ext cx="52847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Today, it's decided deal by deal</a:t>
            </a:r>
            <a:endParaRPr lang="en-US" sz="1600" dirty="0"/>
          </a:p>
        </p:txBody>
      </p:sp>
      <p:sp>
        <p:nvSpPr>
          <p:cNvPr id="16" name="Text 14"/>
          <p:cNvSpPr/>
          <p:nvPr/>
        </p:nvSpPr>
        <p:spPr>
          <a:xfrm>
            <a:off x="812800" y="3751362"/>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The plant chases volume and margin. The group wants its projects on schedule. Both are reasonable.</a:t>
            </a:r>
            <a:endParaRPr lang="en-US" sz="1600" dirty="0"/>
          </a:p>
        </p:txBody>
      </p:sp>
      <p:sp>
        <p:nvSpPr>
          <p:cNvPr id="17" name="Text 15"/>
          <p:cNvSpPr/>
          <p:nvPr/>
        </p:nvSpPr>
        <p:spPr>
          <a:xfrm>
            <a:off x="6248400" y="3390702"/>
            <a:ext cx="52847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And planning is blind</a:t>
            </a:r>
            <a:endParaRPr lang="en-US" sz="1600" dirty="0"/>
          </a:p>
        </p:txBody>
      </p:sp>
      <p:sp>
        <p:nvSpPr>
          <p:cNvPr id="18" name="Text 16"/>
          <p:cNvSpPr/>
          <p:nvPr/>
        </p:nvSpPr>
        <p:spPr>
          <a:xfrm>
            <a:off x="6248400" y="3751362"/>
            <a:ext cx="528472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Each plant forecasts alone in spreadsheets: excess stock in one place, missed orders in another.</a:t>
            </a:r>
            <a:endParaRPr lang="en-US" sz="1600" dirty="0"/>
          </a:p>
        </p:txBody>
      </p:sp>
      <p:sp>
        <p:nvSpPr>
          <p:cNvPr id="19" name="Text 17"/>
          <p:cNvSpPr/>
          <p:nvPr/>
        </p:nvSpPr>
        <p:spPr>
          <a:xfrm>
            <a:off x="812800" y="45742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The brief rules out a new ERP, a consultant, a transfer-pricing policy, and escalating upwards.</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Sources: Chin Hin problem statement (Kabel); The Sun, Aug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Plant Load Radar: one rule, one owner, one board</a:t>
            </a:r>
            <a:endParaRPr lang="en-US" sz="2800" dirty="0"/>
          </a:p>
        </p:txBody>
      </p:sp>
      <p:sp>
        <p:nvSpPr>
          <p:cNvPr id="3" name="Text 1"/>
          <p:cNvSpPr/>
          <p:nvPr/>
        </p:nvSpPr>
        <p:spPr>
          <a:xfrm>
            <a:off x="812800" y="13232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Every week, the plant knows who gets the capacity, and why, in ringgit.</a:t>
            </a:r>
            <a:endParaRPr lang="en-US" sz="1600" dirty="0"/>
          </a:p>
        </p:txBody>
      </p:sp>
      <p:sp>
        <p:nvSpPr>
          <p:cNvPr id="4" name="Shape 2"/>
          <p:cNvSpPr/>
          <p:nvPr/>
        </p:nvSpPr>
        <p:spPr>
          <a:xfrm>
            <a:off x="812800" y="1931591"/>
            <a:ext cx="3318867" cy="0"/>
          </a:xfrm>
          <a:prstGeom prst="line">
            <a:avLst/>
          </a:prstGeom>
          <a:noFill/>
          <a:ln w="38100">
            <a:solidFill>
              <a:srgbClr val="1F6B45"/>
            </a:solidFill>
            <a:prstDash val="solid"/>
          </a:ln>
        </p:spPr>
      </p:sp>
      <p:sp>
        <p:nvSpPr>
          <p:cNvPr id="5" name="Text 3"/>
          <p:cNvSpPr/>
          <p:nvPr/>
        </p:nvSpPr>
        <p:spPr>
          <a:xfrm>
            <a:off x="812800" y="2153841"/>
            <a:ext cx="3418433"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6B45"/>
                </a:solidFill>
                <a:latin typeface="Plus Jakarta Sans" pitchFamily="34" charset="0"/>
                <a:ea typeface="Plus Jakarta Sans" pitchFamily="34" charset="-122"/>
                <a:cs typeface="Plus Jakarta Sans" pitchFamily="34" charset="-120"/>
              </a:rPr>
              <a:t>1</a:t>
            </a:r>
            <a:endParaRPr lang="en-US" sz="2800" dirty="0"/>
          </a:p>
        </p:txBody>
      </p:sp>
      <p:sp>
        <p:nvSpPr>
          <p:cNvPr id="6" name="Text 4"/>
          <p:cNvSpPr/>
          <p:nvPr/>
        </p:nvSpPr>
        <p:spPr>
          <a:xfrm>
            <a:off x="812800" y="2611041"/>
            <a:ext cx="34184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The rule</a:t>
            </a:r>
            <a:endParaRPr lang="en-US" sz="2000" dirty="0"/>
          </a:p>
        </p:txBody>
      </p:sp>
      <p:sp>
        <p:nvSpPr>
          <p:cNvPr id="7" name="Text 5"/>
          <p:cNvSpPr/>
          <p:nvPr/>
        </p:nvSpPr>
        <p:spPr>
          <a:xfrm>
            <a:off x="812800" y="3017441"/>
            <a:ext cx="3418433"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Serve the request with more ringgit at stake: a project's cost of delay, or an order's margin.</a:t>
            </a:r>
            <a:endParaRPr lang="en-US" sz="1600" dirty="0"/>
          </a:p>
        </p:txBody>
      </p:sp>
      <p:sp>
        <p:nvSpPr>
          <p:cNvPr id="8" name="Shape 6"/>
          <p:cNvSpPr/>
          <p:nvPr/>
        </p:nvSpPr>
        <p:spPr>
          <a:xfrm>
            <a:off x="4436467" y="1931591"/>
            <a:ext cx="3318966" cy="0"/>
          </a:xfrm>
          <a:prstGeom prst="line">
            <a:avLst/>
          </a:prstGeom>
          <a:noFill/>
          <a:ln w="38100">
            <a:solidFill>
              <a:srgbClr val="1F6B45"/>
            </a:solidFill>
            <a:prstDash val="solid"/>
          </a:ln>
        </p:spPr>
      </p:sp>
      <p:sp>
        <p:nvSpPr>
          <p:cNvPr id="9" name="Text 7"/>
          <p:cNvSpPr/>
          <p:nvPr/>
        </p:nvSpPr>
        <p:spPr>
          <a:xfrm>
            <a:off x="4436467" y="2153841"/>
            <a:ext cx="341853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6B45"/>
                </a:solidFill>
                <a:latin typeface="Plus Jakarta Sans" pitchFamily="34" charset="0"/>
                <a:ea typeface="Plus Jakarta Sans" pitchFamily="34" charset="-122"/>
                <a:cs typeface="Plus Jakarta Sans" pitchFamily="34" charset="-120"/>
              </a:rPr>
              <a:t>2</a:t>
            </a:r>
            <a:endParaRPr lang="en-US" sz="2800" dirty="0"/>
          </a:p>
        </p:txBody>
      </p:sp>
      <p:sp>
        <p:nvSpPr>
          <p:cNvPr id="10" name="Text 8"/>
          <p:cNvSpPr/>
          <p:nvPr/>
        </p:nvSpPr>
        <p:spPr>
          <a:xfrm>
            <a:off x="4436467" y="2611041"/>
            <a:ext cx="34185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The owner</a:t>
            </a:r>
            <a:endParaRPr lang="en-US" sz="2000" dirty="0"/>
          </a:p>
        </p:txBody>
      </p:sp>
      <p:sp>
        <p:nvSpPr>
          <p:cNvPr id="11" name="Text 9"/>
          <p:cNvSpPr/>
          <p:nvPr/>
        </p:nvSpPr>
        <p:spPr>
          <a:xfrm>
            <a:off x="4436467" y="3017441"/>
            <a:ext cx="341853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The plant scheduler applies it every week. Exceptions go to a 30-minute huddle, never upwards.</a:t>
            </a:r>
            <a:endParaRPr lang="en-US" sz="1600" dirty="0"/>
          </a:p>
        </p:txBody>
      </p:sp>
      <p:sp>
        <p:nvSpPr>
          <p:cNvPr id="12" name="Shape 10"/>
          <p:cNvSpPr/>
          <p:nvPr/>
        </p:nvSpPr>
        <p:spPr>
          <a:xfrm>
            <a:off x="8060234" y="1931591"/>
            <a:ext cx="3318966" cy="0"/>
          </a:xfrm>
          <a:prstGeom prst="line">
            <a:avLst/>
          </a:prstGeom>
          <a:noFill/>
          <a:ln w="38100">
            <a:solidFill>
              <a:srgbClr val="1F6B45"/>
            </a:solidFill>
            <a:prstDash val="solid"/>
          </a:ln>
        </p:spPr>
      </p:sp>
      <p:sp>
        <p:nvSpPr>
          <p:cNvPr id="13" name="Text 11"/>
          <p:cNvSpPr/>
          <p:nvPr/>
        </p:nvSpPr>
        <p:spPr>
          <a:xfrm>
            <a:off x="8060234" y="2153841"/>
            <a:ext cx="3418535"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F6B45"/>
                </a:solidFill>
                <a:latin typeface="Plus Jakarta Sans" pitchFamily="34" charset="0"/>
                <a:ea typeface="Plus Jakarta Sans" pitchFamily="34" charset="-122"/>
                <a:cs typeface="Plus Jakarta Sans" pitchFamily="34" charset="-120"/>
              </a:rPr>
              <a:t>3</a:t>
            </a:r>
            <a:endParaRPr lang="en-US" sz="2800" dirty="0"/>
          </a:p>
        </p:txBody>
      </p:sp>
      <p:sp>
        <p:nvSpPr>
          <p:cNvPr id="14" name="Text 12"/>
          <p:cNvSpPr/>
          <p:nvPr/>
        </p:nvSpPr>
        <p:spPr>
          <a:xfrm>
            <a:off x="8060234" y="2611041"/>
            <a:ext cx="34185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The board</a:t>
            </a:r>
            <a:endParaRPr lang="en-US" sz="2000" dirty="0"/>
          </a:p>
        </p:txBody>
      </p:sp>
      <p:sp>
        <p:nvSpPr>
          <p:cNvPr id="15" name="Text 13"/>
          <p:cNvSpPr/>
          <p:nvPr/>
        </p:nvSpPr>
        <p:spPr>
          <a:xfrm>
            <a:off x="8060234" y="3017441"/>
            <a:ext cx="3418535"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One view of all committed demand against capacity, built in Excel and Power Apps.</a:t>
            </a:r>
            <a:endParaRPr lang="en-US" sz="1600" dirty="0"/>
          </a:p>
        </p:txBody>
      </p:sp>
      <p:sp>
        <p:nvSpPr>
          <p:cNvPr id="16" name="Text 14"/>
          <p:cNvSpPr/>
          <p:nvPr/>
        </p:nvSpPr>
        <p:spPr>
          <a:xfrm>
            <a:off x="812800" y="4460081"/>
            <a:ext cx="10566400" cy="873720"/>
          </a:xfrm>
          <a:prstGeom prst="roundRect">
            <a:avLst>
              <a:gd name="adj" fmla="val 11628"/>
            </a:avLst>
          </a:prstGeom>
          <a:solidFill>
            <a:srgbClr val="EAF2EC"/>
          </a:solidFill>
          <a:ln/>
        </p:spPr>
        <p:txBody>
          <a:bodyPr wrap="square" lIns="173442" tIns="122642" rIns="0" bIns="97242"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An agentic AI layer does the legwork: reading orders, testing options and drafting messages. People make the call.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Part 1 · The rule</a:t>
            </a:r>
            <a:endParaRPr lang="en-US" sz="1200" dirty="0"/>
          </a:p>
        </p:txBody>
      </p:sp>
      <p:sp>
        <p:nvSpPr>
          <p:cNvPr id="3" name="Text 1"/>
          <p:cNvSpPr/>
          <p:nvPr>
            <p:ph type="title"/>
          </p:nvPr>
        </p:nvSpPr>
        <p:spPr>
          <a:xfrm>
            <a:off x="812800" y="11023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More ringgit at stake wins</a:t>
            </a:r>
            <a:endParaRPr lang="en-US" sz="2800" dirty="0"/>
          </a:p>
        </p:txBody>
      </p:sp>
      <p:sp>
        <p:nvSpPr>
          <p:cNvPr id="4" name="Shape 2"/>
          <p:cNvSpPr/>
          <p:nvPr/>
        </p:nvSpPr>
        <p:spPr>
          <a:xfrm>
            <a:off x="819150" y="1593751"/>
            <a:ext cx="5118100" cy="3847703"/>
          </a:xfrm>
          <a:prstGeom prst="roundRect">
            <a:avLst>
              <a:gd name="adj" fmla="val 2476"/>
            </a:avLst>
          </a:prstGeom>
          <a:solidFill>
            <a:srgbClr val="FFFFFF"/>
          </a:solidFill>
          <a:ln w="12700">
            <a:solidFill>
              <a:srgbClr val="E2E2DC"/>
            </a:solidFill>
            <a:prstDash val="solid"/>
          </a:ln>
        </p:spPr>
      </p:sp>
      <p:sp>
        <p:nvSpPr>
          <p:cNvPr id="5" name="Text 3"/>
          <p:cNvSpPr/>
          <p:nvPr/>
        </p:nvSpPr>
        <p:spPr>
          <a:xfrm>
            <a:off x="1079500" y="1854101"/>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Example: week 43 is 2,000 m³ short</a:t>
            </a:r>
            <a:endParaRPr lang="en-US" sz="1200" dirty="0"/>
          </a:p>
        </p:txBody>
      </p:sp>
      <p:sp>
        <p:nvSpPr>
          <p:cNvPr id="6" name="Text 4"/>
          <p:cNvSpPr/>
          <p:nvPr/>
        </p:nvSpPr>
        <p:spPr>
          <a:xfrm>
            <a:off x="1079500" y="2194421"/>
            <a:ext cx="47353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Project A (Chin Hin's own)</a:t>
            </a:r>
            <a:endParaRPr lang="en-US" sz="1600" dirty="0"/>
          </a:p>
        </p:txBody>
      </p:sp>
      <p:sp>
        <p:nvSpPr>
          <p:cNvPr id="7" name="Text 5"/>
          <p:cNvSpPr/>
          <p:nvPr/>
        </p:nvSpPr>
        <p:spPr>
          <a:xfrm>
            <a:off x="1079500" y="2504281"/>
            <a:ext cx="473532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6B45"/>
                </a:solidFill>
                <a:latin typeface="Plus Jakarta Sans" pitchFamily="34" charset="0"/>
                <a:ea typeface="Plus Jakarta Sans" pitchFamily="34" charset="-122"/>
                <a:cs typeface="Plus Jakarta Sans" pitchFamily="34" charset="-120"/>
              </a:rPr>
              <a:t>RM82,000 a day</a:t>
            </a:r>
            <a:endParaRPr lang="en-US" sz="2800" dirty="0"/>
          </a:p>
        </p:txBody>
      </p:sp>
      <p:sp>
        <p:nvSpPr>
          <p:cNvPr id="8" name="Text 6"/>
          <p:cNvSpPr/>
          <p:nvPr/>
        </p:nvSpPr>
        <p:spPr>
          <a:xfrm>
            <a:off x="1079500" y="292080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if its handover slips past the deadline</a:t>
            </a:r>
            <a:endParaRPr lang="en-US" sz="1200" dirty="0"/>
          </a:p>
        </p:txBody>
      </p:sp>
      <p:sp>
        <p:nvSpPr>
          <p:cNvPr id="9" name="Shape 7"/>
          <p:cNvSpPr/>
          <p:nvPr/>
        </p:nvSpPr>
        <p:spPr>
          <a:xfrm>
            <a:off x="1079500" y="3261122"/>
            <a:ext cx="4597400" cy="12700"/>
          </a:xfrm>
          <a:prstGeom prst="rect">
            <a:avLst/>
          </a:prstGeom>
          <a:solidFill>
            <a:srgbClr val="E2E2DC"/>
          </a:solidFill>
          <a:ln/>
        </p:spPr>
      </p:sp>
      <p:sp>
        <p:nvSpPr>
          <p:cNvPr id="10" name="Text 8"/>
          <p:cNvSpPr/>
          <p:nvPr/>
        </p:nvSpPr>
        <p:spPr>
          <a:xfrm>
            <a:off x="1079500" y="3400822"/>
            <a:ext cx="473532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Contractor B (outside)</a:t>
            </a:r>
            <a:endParaRPr lang="en-US" sz="1600" dirty="0"/>
          </a:p>
        </p:txBody>
      </p:sp>
      <p:sp>
        <p:nvSpPr>
          <p:cNvPr id="11" name="Text 9"/>
          <p:cNvSpPr/>
          <p:nvPr/>
        </p:nvSpPr>
        <p:spPr>
          <a:xfrm>
            <a:off x="1079500" y="3710682"/>
            <a:ext cx="473532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3D443F"/>
                </a:solidFill>
                <a:latin typeface="Plus Jakarta Sans" pitchFamily="34" charset="0"/>
                <a:ea typeface="Plus Jakarta Sans" pitchFamily="34" charset="-122"/>
                <a:cs typeface="Plus Jakarta Sans" pitchFamily="34" charset="-120"/>
              </a:rPr>
              <a:t>RM18,000</a:t>
            </a:r>
            <a:endParaRPr lang="en-US" sz="2800" dirty="0"/>
          </a:p>
        </p:txBody>
      </p:sp>
      <p:sp>
        <p:nvSpPr>
          <p:cNvPr id="12" name="Text 10"/>
          <p:cNvSpPr/>
          <p:nvPr/>
        </p:nvSpPr>
        <p:spPr>
          <a:xfrm>
            <a:off x="1079500" y="412720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margin on this order</a:t>
            </a:r>
            <a:endParaRPr lang="en-US" sz="1200" dirty="0"/>
          </a:p>
        </p:txBody>
      </p:sp>
      <p:sp>
        <p:nvSpPr>
          <p:cNvPr id="13" name="Text 11"/>
          <p:cNvSpPr/>
          <p:nvPr/>
        </p:nvSpPr>
        <p:spPr>
          <a:xfrm>
            <a:off x="1079500" y="4467523"/>
            <a:ext cx="4735322"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F6B45"/>
                </a:solidFill>
                <a:latin typeface="Plus Jakarta Sans" pitchFamily="34" charset="0"/>
                <a:ea typeface="Plus Jakarta Sans" pitchFamily="34" charset="-122"/>
                <a:cs typeface="Plus Jakarta Sans" pitchFamily="34" charset="-120"/>
              </a:rPr>
              <a:t>Serve Project A. Offer Contractor B the next free week.</a:t>
            </a:r>
            <a:endParaRPr lang="en-US" sz="1600" dirty="0"/>
          </a:p>
        </p:txBody>
      </p:sp>
      <p:sp>
        <p:nvSpPr>
          <p:cNvPr id="14" name="Text 12"/>
          <p:cNvSpPr/>
          <p:nvPr/>
        </p:nvSpPr>
        <p:spPr>
          <a:xfrm>
            <a:off x="6248400" y="158740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Keeping it fair</a:t>
            </a:r>
            <a:endParaRPr lang="en-US" sz="2000" dirty="0"/>
          </a:p>
        </p:txBody>
      </p:sp>
      <p:sp>
        <p:nvSpPr>
          <p:cNvPr id="15" name="Text 13"/>
          <p:cNvSpPr/>
          <p:nvPr/>
        </p:nvSpPr>
        <p:spPr>
          <a:xfrm>
            <a:off x="6248400" y="2044601"/>
            <a:ext cx="52847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Plan ahead, get protected</a:t>
            </a:r>
            <a:endParaRPr lang="en-US" sz="1600" dirty="0"/>
          </a:p>
        </p:txBody>
      </p:sp>
      <p:sp>
        <p:nvSpPr>
          <p:cNvPr id="16" name="Text 14"/>
          <p:cNvSpPr/>
          <p:nvPr/>
        </p:nvSpPr>
        <p:spPr>
          <a:xfrm>
            <a:off x="6248400" y="2354461"/>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Projects that confirm call-offs early get reserved capacity. Unused slots are released.</a:t>
            </a:r>
            <a:endParaRPr lang="en-US" sz="1200" dirty="0"/>
          </a:p>
        </p:txBody>
      </p:sp>
      <p:sp>
        <p:nvSpPr>
          <p:cNvPr id="17" name="Text 15"/>
          <p:cNvSpPr/>
          <p:nvPr/>
        </p:nvSpPr>
        <p:spPr>
          <a:xfrm>
            <a:off x="6248400" y="2933502"/>
            <a:ext cx="52847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Promises are kept</a:t>
            </a:r>
            <a:endParaRPr lang="en-US" sz="1600" dirty="0"/>
          </a:p>
        </p:txBody>
      </p:sp>
      <p:sp>
        <p:nvSpPr>
          <p:cNvPr id="18" name="Text 16"/>
          <p:cNvSpPr/>
          <p:nvPr/>
        </p:nvSpPr>
        <p:spPr>
          <a:xfrm>
            <a:off x="6248400" y="3243362"/>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Confirmed orders are never bumped. The rule only decides new requests.</a:t>
            </a:r>
            <a:endParaRPr lang="en-US" sz="1200" dirty="0"/>
          </a:p>
        </p:txBody>
      </p:sp>
      <p:sp>
        <p:nvSpPr>
          <p:cNvPr id="19" name="Text 17"/>
          <p:cNvSpPr/>
          <p:nvPr/>
        </p:nvSpPr>
        <p:spPr>
          <a:xfrm>
            <a:off x="6248400" y="3822402"/>
            <a:ext cx="52847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Close call? First confirmed wins</a:t>
            </a:r>
            <a:endParaRPr lang="en-US" sz="1600" dirty="0"/>
          </a:p>
        </p:txBody>
      </p:sp>
      <p:sp>
        <p:nvSpPr>
          <p:cNvPr id="20" name="Text 18"/>
          <p:cNvSpPr/>
          <p:nvPr/>
        </p:nvSpPr>
        <p:spPr>
          <a:xfrm>
            <a:off x="6248400" y="4132263"/>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If both sides are within about 10%, the earlier confirmed request goes first.</a:t>
            </a:r>
            <a:endParaRPr lang="en-US" sz="1200" dirty="0"/>
          </a:p>
        </p:txBody>
      </p:sp>
      <p:sp>
        <p:nvSpPr>
          <p:cNvPr id="21" name="Text 19"/>
          <p:cNvSpPr/>
          <p:nvPr/>
        </p:nvSpPr>
        <p:spPr>
          <a:xfrm>
            <a:off x="6248400" y="4711303"/>
            <a:ext cx="528472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Fill the quiet weeks</a:t>
            </a:r>
            <a:endParaRPr lang="en-US" sz="1600" dirty="0"/>
          </a:p>
        </p:txBody>
      </p:sp>
      <p:sp>
        <p:nvSpPr>
          <p:cNvPr id="22" name="Text 20"/>
          <p:cNvSpPr/>
          <p:nvPr/>
        </p:nvSpPr>
        <p:spPr>
          <a:xfrm>
            <a:off x="6248400" y="5021163"/>
            <a:ext cx="528472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AAC can be stocked, so quiet weeks pre-build for busy ones, within a stock limit.</a:t>
            </a:r>
            <a:endParaRPr lang="en-US" sz="12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Illustrative numbers. Delay cost uses the Housing Development Act late-handover rate: 10% a year of the purchase price, per 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Part 2 · The owner</a:t>
            </a:r>
            <a:endParaRPr lang="en-US" sz="1200" dirty="0"/>
          </a:p>
        </p:txBody>
      </p:sp>
      <p:sp>
        <p:nvSpPr>
          <p:cNvPr id="3" name="Text 1"/>
          <p:cNvSpPr/>
          <p:nvPr>
            <p:ph type="title"/>
          </p:nvPr>
        </p:nvSpPr>
        <p:spPr>
          <a:xfrm>
            <a:off x="812800" y="11023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Who decides, and when</a:t>
            </a:r>
            <a:endParaRPr lang="en-US" sz="2800" dirty="0"/>
          </a:p>
        </p:txBody>
      </p:sp>
      <p:sp>
        <p:nvSpPr>
          <p:cNvPr id="4" name="Text 2"/>
          <p:cNvSpPr/>
          <p:nvPr/>
        </p:nvSpPr>
        <p:spPr>
          <a:xfrm>
            <a:off x="81280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5" name="Text 3"/>
          <p:cNvSpPr/>
          <p:nvPr/>
        </p:nvSpPr>
        <p:spPr>
          <a:xfrm>
            <a:off x="812800" y="2044601"/>
            <a:ext cx="256387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B1F1C"/>
                </a:solidFill>
                <a:latin typeface="Plus Jakarta Sans" pitchFamily="34" charset="0"/>
                <a:ea typeface="Plus Jakarta Sans" pitchFamily="34" charset="-122"/>
                <a:cs typeface="Plus Jakarta Sans" pitchFamily="34" charset="-120"/>
              </a:rPr>
              <a:t>Project planners and sales</a:t>
            </a:r>
            <a:endParaRPr lang="en-US" sz="1600" dirty="0"/>
          </a:p>
        </p:txBody>
      </p:sp>
      <p:sp>
        <p:nvSpPr>
          <p:cNvPr id="6" name="Text 4"/>
          <p:cNvSpPr/>
          <p:nvPr/>
        </p:nvSpPr>
        <p:spPr>
          <a:xfrm>
            <a:off x="812800" y="2674441"/>
            <a:ext cx="256387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Confirm orders and call-offs early</a:t>
            </a:r>
            <a:endParaRPr lang="en-US" sz="1600" dirty="0"/>
          </a:p>
        </p:txBody>
      </p:sp>
      <p:sp>
        <p:nvSpPr>
          <p:cNvPr id="7" name="Text 5"/>
          <p:cNvSpPr/>
          <p:nvPr/>
        </p:nvSpPr>
        <p:spPr>
          <a:xfrm>
            <a:off x="812800" y="334496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As they come in</a:t>
            </a:r>
            <a:endParaRPr lang="en-US" sz="1200" dirty="0"/>
          </a:p>
        </p:txBody>
      </p:sp>
      <p:sp>
        <p:nvSpPr>
          <p:cNvPr id="8" name="Text 6"/>
          <p:cNvSpPr/>
          <p:nvPr/>
        </p:nvSpPr>
        <p:spPr>
          <a:xfrm>
            <a:off x="350520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9" name="Text 7"/>
          <p:cNvSpPr/>
          <p:nvPr/>
        </p:nvSpPr>
        <p:spPr>
          <a:xfrm>
            <a:off x="3505200" y="2044601"/>
            <a:ext cx="256387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B1F1C"/>
                </a:solidFill>
                <a:latin typeface="Plus Jakarta Sans" pitchFamily="34" charset="0"/>
                <a:ea typeface="Plus Jakarta Sans" pitchFamily="34" charset="-122"/>
                <a:cs typeface="Plus Jakarta Sans" pitchFamily="34" charset="-120"/>
              </a:rPr>
              <a:t>Plant scheduler</a:t>
            </a:r>
            <a:endParaRPr lang="en-US" sz="1600" dirty="0"/>
          </a:p>
        </p:txBody>
      </p:sp>
      <p:sp>
        <p:nvSpPr>
          <p:cNvPr id="10" name="Text 8"/>
          <p:cNvSpPr/>
          <p:nvPr/>
        </p:nvSpPr>
        <p:spPr>
          <a:xfrm>
            <a:off x="3505200" y="2410321"/>
            <a:ext cx="256387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Updates the board and applies the rule</a:t>
            </a:r>
            <a:endParaRPr lang="en-US" sz="1600" dirty="0"/>
          </a:p>
        </p:txBody>
      </p:sp>
      <p:sp>
        <p:nvSpPr>
          <p:cNvPr id="11" name="Text 9"/>
          <p:cNvSpPr/>
          <p:nvPr/>
        </p:nvSpPr>
        <p:spPr>
          <a:xfrm>
            <a:off x="3505200" y="30808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Every week</a:t>
            </a:r>
            <a:endParaRPr lang="en-US" sz="1200" dirty="0"/>
          </a:p>
        </p:txBody>
      </p:sp>
      <p:sp>
        <p:nvSpPr>
          <p:cNvPr id="12" name="Text 10"/>
          <p:cNvSpPr/>
          <p:nvPr/>
        </p:nvSpPr>
        <p:spPr>
          <a:xfrm>
            <a:off x="619760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13" name="Text 11"/>
          <p:cNvSpPr/>
          <p:nvPr/>
        </p:nvSpPr>
        <p:spPr>
          <a:xfrm>
            <a:off x="6197600" y="2044601"/>
            <a:ext cx="256387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B1F1C"/>
                </a:solidFill>
                <a:latin typeface="Plus Jakarta Sans" pitchFamily="34" charset="0"/>
                <a:ea typeface="Plus Jakarta Sans" pitchFamily="34" charset="-122"/>
                <a:cs typeface="Plus Jakarta Sans" pitchFamily="34" charset="-120"/>
              </a:rPr>
              <a:t>Plant manager and project director</a:t>
            </a:r>
            <a:endParaRPr lang="en-US" sz="1600" dirty="0"/>
          </a:p>
        </p:txBody>
      </p:sp>
      <p:sp>
        <p:nvSpPr>
          <p:cNvPr id="14" name="Text 12"/>
          <p:cNvSpPr/>
          <p:nvPr/>
        </p:nvSpPr>
        <p:spPr>
          <a:xfrm>
            <a:off x="6197600" y="2674441"/>
            <a:ext cx="2563876"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Settle anything the rule can't, in a 30-minute huddle</a:t>
            </a:r>
            <a:endParaRPr lang="en-US" sz="1600" dirty="0"/>
          </a:p>
        </p:txBody>
      </p:sp>
      <p:sp>
        <p:nvSpPr>
          <p:cNvPr id="15" name="Text 13"/>
          <p:cNvSpPr/>
          <p:nvPr/>
        </p:nvSpPr>
        <p:spPr>
          <a:xfrm>
            <a:off x="6197600" y="362942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Every week</a:t>
            </a:r>
            <a:endParaRPr lang="en-US" sz="1200" dirty="0"/>
          </a:p>
        </p:txBody>
      </p:sp>
      <p:sp>
        <p:nvSpPr>
          <p:cNvPr id="16" name="Text 14"/>
          <p:cNvSpPr/>
          <p:nvPr/>
        </p:nvSpPr>
        <p:spPr>
          <a:xfrm>
            <a:off x="889000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4</a:t>
            </a:r>
            <a:endParaRPr lang="en-US" sz="1200" dirty="0"/>
          </a:p>
        </p:txBody>
      </p:sp>
      <p:sp>
        <p:nvSpPr>
          <p:cNvPr id="17" name="Text 15"/>
          <p:cNvSpPr/>
          <p:nvPr/>
        </p:nvSpPr>
        <p:spPr>
          <a:xfrm>
            <a:off x="8890000" y="2044601"/>
            <a:ext cx="256387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B1F1C"/>
                </a:solidFill>
                <a:latin typeface="Plus Jakarta Sans" pitchFamily="34" charset="0"/>
                <a:ea typeface="Plus Jakarta Sans" pitchFamily="34" charset="-122"/>
                <a:cs typeface="Plus Jakarta Sans" pitchFamily="34" charset="-120"/>
              </a:rPr>
              <a:t>Group finance</a:t>
            </a:r>
            <a:endParaRPr lang="en-US" sz="1600" dirty="0"/>
          </a:p>
        </p:txBody>
      </p:sp>
      <p:sp>
        <p:nvSpPr>
          <p:cNvPr id="18" name="Text 16"/>
          <p:cNvSpPr/>
          <p:nvPr/>
        </p:nvSpPr>
        <p:spPr>
          <a:xfrm>
            <a:off x="8890000" y="2410321"/>
            <a:ext cx="256387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Reviews the ringgit saved and lost</a:t>
            </a:r>
            <a:endParaRPr lang="en-US" sz="1600" dirty="0"/>
          </a:p>
        </p:txBody>
      </p:sp>
      <p:sp>
        <p:nvSpPr>
          <p:cNvPr id="19" name="Text 17"/>
          <p:cNvSpPr/>
          <p:nvPr/>
        </p:nvSpPr>
        <p:spPr>
          <a:xfrm>
            <a:off x="8890000" y="30808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Every month</a:t>
            </a:r>
            <a:endParaRPr lang="en-US" sz="1200" dirty="0"/>
          </a:p>
        </p:txBody>
      </p:sp>
      <p:sp>
        <p:nvSpPr>
          <p:cNvPr id="20" name="Shape 18"/>
          <p:cNvSpPr/>
          <p:nvPr/>
        </p:nvSpPr>
        <p:spPr>
          <a:xfrm>
            <a:off x="831850" y="3918942"/>
            <a:ext cx="0" cy="690860"/>
          </a:xfrm>
          <a:prstGeom prst="line">
            <a:avLst/>
          </a:prstGeom>
          <a:noFill/>
          <a:ln w="38100">
            <a:solidFill>
              <a:srgbClr val="1F6B45"/>
            </a:solidFill>
            <a:prstDash val="solid"/>
          </a:ln>
        </p:spPr>
      </p:sp>
      <p:sp>
        <p:nvSpPr>
          <p:cNvPr id="21" name="Text 19"/>
          <p:cNvSpPr/>
          <p:nvPr/>
        </p:nvSpPr>
        <p:spPr>
          <a:xfrm>
            <a:off x="1054100" y="3918942"/>
            <a:ext cx="10634853"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B1F1C"/>
                </a:solidFill>
                <a:latin typeface="Plus Jakarta Sans" pitchFamily="34" charset="0"/>
                <a:ea typeface="Plus Jakarta Sans" pitchFamily="34" charset="-122"/>
                <a:cs typeface="Plus Jakarta Sans" pitchFamily="34" charset="-120"/>
              </a:rPr>
              <a:t>Nothing goes up the chain. The rule settles it.</a:t>
            </a:r>
            <a:endParaRPr lang="en-US" sz="2000" dirty="0"/>
          </a:p>
        </p:txBody>
      </p:sp>
      <p:sp>
        <p:nvSpPr>
          <p:cNvPr id="22" name="Text 20"/>
          <p:cNvSpPr/>
          <p:nvPr/>
        </p:nvSpPr>
        <p:spPr>
          <a:xfrm>
            <a:off x="1054100" y="4325342"/>
            <a:ext cx="1063485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43F"/>
                </a:solidFill>
                <a:latin typeface="Plus Jakarta Sans" pitchFamily="34" charset="0"/>
                <a:ea typeface="Plus Jakarta Sans" pitchFamily="34" charset="-122"/>
                <a:cs typeface="Plus Jakarta Sans" pitchFamily="34" charset="-120"/>
              </a:rPr>
              <a:t>The plant manager owns every decision made within the rule.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Part 3 · The board</a:t>
            </a:r>
            <a:endParaRPr lang="en-US" sz="1200" dirty="0"/>
          </a:p>
        </p:txBody>
      </p:sp>
      <p:sp>
        <p:nvSpPr>
          <p:cNvPr id="3" name="Text 1"/>
          <p:cNvSpPr/>
          <p:nvPr>
            <p:ph type="title"/>
          </p:nvPr>
        </p:nvSpPr>
        <p:spPr>
          <a:xfrm>
            <a:off x="812800" y="11023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How Plant Load Radar works, every week</a:t>
            </a:r>
            <a:endParaRPr lang="en-US" sz="2800" dirty="0"/>
          </a:p>
        </p:txBody>
      </p:sp>
      <p:sp>
        <p:nvSpPr>
          <p:cNvPr id="4" name="Text 2"/>
          <p:cNvSpPr/>
          <p:nvPr/>
        </p:nvSpPr>
        <p:spPr>
          <a:xfrm>
            <a:off x="81280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1</a:t>
            </a:r>
            <a:endParaRPr lang="en-US" sz="1200" dirty="0"/>
          </a:p>
        </p:txBody>
      </p:sp>
      <p:sp>
        <p:nvSpPr>
          <p:cNvPr id="5" name="Text 3"/>
          <p:cNvSpPr/>
          <p:nvPr/>
        </p:nvSpPr>
        <p:spPr>
          <a:xfrm>
            <a:off x="812800" y="2019201"/>
            <a:ext cx="182858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Orders arrive</a:t>
            </a:r>
            <a:endParaRPr lang="en-US" sz="1600" dirty="0"/>
          </a:p>
        </p:txBody>
      </p:sp>
      <p:sp>
        <p:nvSpPr>
          <p:cNvPr id="6" name="Text 4"/>
          <p:cNvSpPr/>
          <p:nvPr/>
        </p:nvSpPr>
        <p:spPr>
          <a:xfrm>
            <a:off x="812800" y="2379861"/>
            <a:ext cx="182858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WhatsApp messages, paper delivery orders, Excel</a:t>
            </a:r>
            <a:endParaRPr lang="en-US" sz="1200" dirty="0"/>
          </a:p>
        </p:txBody>
      </p:sp>
      <p:sp>
        <p:nvSpPr>
          <p:cNvPr id="7" name="Text 5"/>
          <p:cNvSpPr/>
          <p:nvPr/>
        </p:nvSpPr>
        <p:spPr>
          <a:xfrm>
            <a:off x="2689721" y="1612801"/>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8" name="Text 6"/>
          <p:cNvSpPr/>
          <p:nvPr/>
        </p:nvSpPr>
        <p:spPr>
          <a:xfrm>
            <a:off x="3010495"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2</a:t>
            </a:r>
            <a:endParaRPr lang="en-US" sz="1200" dirty="0"/>
          </a:p>
        </p:txBody>
      </p:sp>
      <p:sp>
        <p:nvSpPr>
          <p:cNvPr id="9" name="Text 7"/>
          <p:cNvSpPr/>
          <p:nvPr/>
        </p:nvSpPr>
        <p:spPr>
          <a:xfrm>
            <a:off x="3010495" y="2019201"/>
            <a:ext cx="18286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Captured</a:t>
            </a:r>
            <a:endParaRPr lang="en-US" sz="1600" dirty="0"/>
          </a:p>
        </p:txBody>
      </p:sp>
      <p:sp>
        <p:nvSpPr>
          <p:cNvPr id="10" name="Text 8"/>
          <p:cNvSpPr/>
          <p:nvPr/>
        </p:nvSpPr>
        <p:spPr>
          <a:xfrm>
            <a:off x="3010495" y="2379861"/>
            <a:ext cx="182868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An intake agent reads each one; a person confirms anything unclear</a:t>
            </a:r>
            <a:endParaRPr lang="en-US" sz="1200" dirty="0"/>
          </a:p>
        </p:txBody>
      </p:sp>
      <p:sp>
        <p:nvSpPr>
          <p:cNvPr id="11" name="Text 9"/>
          <p:cNvSpPr/>
          <p:nvPr/>
        </p:nvSpPr>
        <p:spPr>
          <a:xfrm>
            <a:off x="4887516" y="1612801"/>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12" name="Text 10"/>
          <p:cNvSpPr/>
          <p:nvPr/>
        </p:nvSpPr>
        <p:spPr>
          <a:xfrm>
            <a:off x="520829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3</a:t>
            </a:r>
            <a:endParaRPr lang="en-US" sz="1200" dirty="0"/>
          </a:p>
        </p:txBody>
      </p:sp>
      <p:sp>
        <p:nvSpPr>
          <p:cNvPr id="13" name="Text 11"/>
          <p:cNvSpPr/>
          <p:nvPr/>
        </p:nvSpPr>
        <p:spPr>
          <a:xfrm>
            <a:off x="5208290" y="2019201"/>
            <a:ext cx="182858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On the board</a:t>
            </a:r>
            <a:endParaRPr lang="en-US" sz="1600" dirty="0"/>
          </a:p>
        </p:txBody>
      </p:sp>
      <p:sp>
        <p:nvSpPr>
          <p:cNvPr id="14" name="Text 12"/>
          <p:cNvSpPr/>
          <p:nvPr/>
        </p:nvSpPr>
        <p:spPr>
          <a:xfrm>
            <a:off x="5208290" y="2379861"/>
            <a:ext cx="182858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Capacity against firm, likely and possible demand, by week</a:t>
            </a:r>
            <a:endParaRPr lang="en-US" sz="1200" dirty="0"/>
          </a:p>
        </p:txBody>
      </p:sp>
      <p:sp>
        <p:nvSpPr>
          <p:cNvPr id="15" name="Text 13"/>
          <p:cNvSpPr/>
          <p:nvPr/>
        </p:nvSpPr>
        <p:spPr>
          <a:xfrm>
            <a:off x="7085211" y="1612801"/>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16" name="Text 14"/>
          <p:cNvSpPr/>
          <p:nvPr/>
        </p:nvSpPr>
        <p:spPr>
          <a:xfrm>
            <a:off x="7405985"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4</a:t>
            </a:r>
            <a:endParaRPr lang="en-US" sz="1200" dirty="0"/>
          </a:p>
        </p:txBody>
      </p:sp>
      <p:sp>
        <p:nvSpPr>
          <p:cNvPr id="17" name="Text 15"/>
          <p:cNvSpPr/>
          <p:nvPr/>
        </p:nvSpPr>
        <p:spPr>
          <a:xfrm>
            <a:off x="7405985" y="2019201"/>
            <a:ext cx="182868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Flagged</a:t>
            </a:r>
            <a:endParaRPr lang="en-US" sz="1600" dirty="0"/>
          </a:p>
        </p:txBody>
      </p:sp>
      <p:sp>
        <p:nvSpPr>
          <p:cNvPr id="18" name="Text 16"/>
          <p:cNvSpPr/>
          <p:nvPr/>
        </p:nvSpPr>
        <p:spPr>
          <a:xfrm>
            <a:off x="7405985" y="2379861"/>
            <a:ext cx="18286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A planner agent finds short weeks and tests serve, move or pre-build</a:t>
            </a:r>
            <a:endParaRPr lang="en-US" sz="1200" dirty="0"/>
          </a:p>
        </p:txBody>
      </p:sp>
      <p:sp>
        <p:nvSpPr>
          <p:cNvPr id="19" name="Text 17"/>
          <p:cNvSpPr/>
          <p:nvPr/>
        </p:nvSpPr>
        <p:spPr>
          <a:xfrm>
            <a:off x="9283005" y="1612801"/>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20" name="Text 18"/>
          <p:cNvSpPr/>
          <p:nvPr/>
        </p:nvSpPr>
        <p:spPr>
          <a:xfrm>
            <a:off x="9603780" y="1587401"/>
            <a:ext cx="355600" cy="355600"/>
          </a:xfrm>
          <a:prstGeom prst="roundRect">
            <a:avLst>
              <a:gd name="adj" fmla="val 50000"/>
            </a:avLst>
          </a:prstGeom>
          <a:solidFill>
            <a:srgbClr val="1F6B45"/>
          </a:solidFill>
          <a:ln/>
        </p:spPr>
        <p:txBody>
          <a:bodyPr wrap="squar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5</a:t>
            </a:r>
            <a:endParaRPr lang="en-US" sz="1200" dirty="0"/>
          </a:p>
        </p:txBody>
      </p:sp>
      <p:sp>
        <p:nvSpPr>
          <p:cNvPr id="21" name="Text 19"/>
          <p:cNvSpPr/>
          <p:nvPr/>
        </p:nvSpPr>
        <p:spPr>
          <a:xfrm>
            <a:off x="9603780" y="2019201"/>
            <a:ext cx="1828683"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Decided and logged</a:t>
            </a:r>
            <a:endParaRPr lang="en-US" sz="1600" dirty="0"/>
          </a:p>
        </p:txBody>
      </p:sp>
      <p:sp>
        <p:nvSpPr>
          <p:cNvPr id="22" name="Text 20"/>
          <p:cNvSpPr/>
          <p:nvPr/>
        </p:nvSpPr>
        <p:spPr>
          <a:xfrm>
            <a:off x="9603780" y="2664321"/>
            <a:ext cx="18286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The scheduler approves; GenAI drafts the replies and the ledger note</a:t>
            </a:r>
            <a:endParaRPr lang="en-US" sz="1200" dirty="0"/>
          </a:p>
        </p:txBody>
      </p:sp>
      <p:sp>
        <p:nvSpPr>
          <p:cNvPr id="23" name="Text 21"/>
          <p:cNvSpPr/>
          <p:nvPr/>
        </p:nvSpPr>
        <p:spPr>
          <a:xfrm>
            <a:off x="812800" y="3380482"/>
            <a:ext cx="5181600" cy="924520"/>
          </a:xfrm>
          <a:prstGeom prst="roundRect">
            <a:avLst>
              <a:gd name="adj" fmla="val 10989"/>
            </a:avLst>
          </a:prstGeom>
          <a:solidFill>
            <a:srgbClr val="EAF2EC"/>
          </a:solidFill>
          <a:ln/>
        </p:spPr>
        <p:txBody>
          <a:bodyPr wrap="square" lIns="173442" tIns="148042" rIns="30186" bIns="122642"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Runs on Excel or SharePoint with a Power Apps front end. No new ERP.</a:t>
            </a:r>
            <a:endParaRPr lang="en-US" sz="1600" dirty="0"/>
          </a:p>
        </p:txBody>
      </p:sp>
      <p:sp>
        <p:nvSpPr>
          <p:cNvPr id="24" name="Text 22"/>
          <p:cNvSpPr/>
          <p:nvPr/>
        </p:nvSpPr>
        <p:spPr>
          <a:xfrm>
            <a:off x="6197600" y="3380482"/>
            <a:ext cx="5181600" cy="924520"/>
          </a:xfrm>
          <a:prstGeom prst="roundRect">
            <a:avLst>
              <a:gd name="adj" fmla="val 10989"/>
            </a:avLst>
          </a:prstGeom>
          <a:solidFill>
            <a:srgbClr val="EAF2EC"/>
          </a:solidFill>
          <a:ln/>
        </p:spPr>
        <p:txBody>
          <a:bodyPr wrap="square" lIns="173442" tIns="148042" rIns="30186" bIns="122642"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Agents do the legwork. A calculator does the maths. People make the call.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The AI layer</a:t>
            </a:r>
            <a:endParaRPr lang="en-US" sz="1200" dirty="0"/>
          </a:p>
        </p:txBody>
      </p:sp>
      <p:sp>
        <p:nvSpPr>
          <p:cNvPr id="3" name="Text 1"/>
          <p:cNvSpPr/>
          <p:nvPr>
            <p:ph type="title"/>
          </p:nvPr>
        </p:nvSpPr>
        <p:spPr>
          <a:xfrm>
            <a:off x="812800" y="11023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Four agents, one human checkpoint</a:t>
            </a:r>
            <a:endParaRPr lang="en-US" sz="2800" dirty="0"/>
          </a:p>
        </p:txBody>
      </p:sp>
      <p:sp>
        <p:nvSpPr>
          <p:cNvPr id="4" name="Shape 2"/>
          <p:cNvSpPr/>
          <p:nvPr/>
        </p:nvSpPr>
        <p:spPr>
          <a:xfrm>
            <a:off x="819150" y="1593751"/>
            <a:ext cx="1808361" cy="2712343"/>
          </a:xfrm>
          <a:prstGeom prst="roundRect">
            <a:avLst>
              <a:gd name="adj" fmla="val 5267"/>
            </a:avLst>
          </a:prstGeom>
          <a:solidFill>
            <a:srgbClr val="FFFFFF"/>
          </a:solidFill>
          <a:ln w="12700">
            <a:solidFill>
              <a:srgbClr val="E2E2DC"/>
            </a:solidFill>
            <a:prstDash val="solid"/>
          </a:ln>
        </p:spPr>
      </p:sp>
      <p:sp>
        <p:nvSpPr>
          <p:cNvPr id="5" name="Text 3"/>
          <p:cNvSpPr/>
          <p:nvPr/>
        </p:nvSpPr>
        <p:spPr>
          <a:xfrm>
            <a:off x="977900" y="1752501"/>
            <a:ext cx="154166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Agent 1</a:t>
            </a:r>
            <a:endParaRPr lang="en-US" sz="1200" dirty="0"/>
          </a:p>
        </p:txBody>
      </p:sp>
      <p:sp>
        <p:nvSpPr>
          <p:cNvPr id="6" name="Text 4"/>
          <p:cNvSpPr/>
          <p:nvPr/>
        </p:nvSpPr>
        <p:spPr>
          <a:xfrm>
            <a:off x="977900" y="2029321"/>
            <a:ext cx="15416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Intake</a:t>
            </a:r>
            <a:endParaRPr lang="en-US" sz="1600" dirty="0"/>
          </a:p>
        </p:txBody>
      </p:sp>
      <p:sp>
        <p:nvSpPr>
          <p:cNvPr id="7" name="Text 5"/>
          <p:cNvSpPr/>
          <p:nvPr/>
        </p:nvSpPr>
        <p:spPr>
          <a:xfrm>
            <a:off x="977900" y="2377281"/>
            <a:ext cx="1541661"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Reads WhatsApp, photos of delivery orders and Excel into order lines</a:t>
            </a:r>
            <a:endParaRPr lang="en-US" sz="1200" dirty="0"/>
          </a:p>
        </p:txBody>
      </p:sp>
      <p:sp>
        <p:nvSpPr>
          <p:cNvPr id="8" name="Text 6"/>
          <p:cNvSpPr/>
          <p:nvPr/>
        </p:nvSpPr>
        <p:spPr>
          <a:xfrm>
            <a:off x="977900" y="3294063"/>
            <a:ext cx="15416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Uses: vision, schema check</a:t>
            </a:r>
            <a:endParaRPr lang="en-US" sz="1200" dirty="0"/>
          </a:p>
        </p:txBody>
      </p:sp>
      <p:sp>
        <p:nvSpPr>
          <p:cNvPr id="9" name="Text 7"/>
          <p:cNvSpPr/>
          <p:nvPr/>
        </p:nvSpPr>
        <p:spPr>
          <a:xfrm>
            <a:off x="2710061" y="2772073"/>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10" name="Shape 8"/>
          <p:cNvSpPr/>
          <p:nvPr/>
        </p:nvSpPr>
        <p:spPr>
          <a:xfrm>
            <a:off x="3011785" y="1593751"/>
            <a:ext cx="1808460" cy="2712343"/>
          </a:xfrm>
          <a:prstGeom prst="roundRect">
            <a:avLst>
              <a:gd name="adj" fmla="val 5267"/>
            </a:avLst>
          </a:prstGeom>
          <a:solidFill>
            <a:srgbClr val="FFFFFF"/>
          </a:solidFill>
          <a:ln w="12700">
            <a:solidFill>
              <a:srgbClr val="E2E2DC"/>
            </a:solidFill>
            <a:prstDash val="solid"/>
          </a:ln>
        </p:spPr>
      </p:sp>
      <p:sp>
        <p:nvSpPr>
          <p:cNvPr id="11" name="Text 9"/>
          <p:cNvSpPr/>
          <p:nvPr/>
        </p:nvSpPr>
        <p:spPr>
          <a:xfrm>
            <a:off x="3170535" y="1752501"/>
            <a:ext cx="1541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Agent 2</a:t>
            </a:r>
            <a:endParaRPr lang="en-US" sz="1200" dirty="0"/>
          </a:p>
        </p:txBody>
      </p:sp>
      <p:sp>
        <p:nvSpPr>
          <p:cNvPr id="12" name="Text 10"/>
          <p:cNvSpPr/>
          <p:nvPr/>
        </p:nvSpPr>
        <p:spPr>
          <a:xfrm>
            <a:off x="3170535" y="2029321"/>
            <a:ext cx="15417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Matching</a:t>
            </a:r>
            <a:endParaRPr lang="en-US" sz="1600" dirty="0"/>
          </a:p>
        </p:txBody>
      </p:sp>
      <p:sp>
        <p:nvSpPr>
          <p:cNvPr id="13" name="Text 11"/>
          <p:cNvSpPr/>
          <p:nvPr/>
        </p:nvSpPr>
        <p:spPr>
          <a:xfrm>
            <a:off x="3170535" y="2377281"/>
            <a:ext cx="1541760" cy="130532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Links orders to projects and customers, removes duplicates, tags firm, likely or possible</a:t>
            </a:r>
            <a:endParaRPr lang="en-US" sz="1200" dirty="0"/>
          </a:p>
        </p:txBody>
      </p:sp>
      <p:sp>
        <p:nvSpPr>
          <p:cNvPr id="14" name="Text 12"/>
          <p:cNvSpPr/>
          <p:nvPr/>
        </p:nvSpPr>
        <p:spPr>
          <a:xfrm>
            <a:off x="3170535" y="3720703"/>
            <a:ext cx="15417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Uses: project list, order history</a:t>
            </a:r>
            <a:endParaRPr lang="en-US" sz="1200" dirty="0"/>
          </a:p>
        </p:txBody>
      </p:sp>
      <p:sp>
        <p:nvSpPr>
          <p:cNvPr id="15" name="Text 13"/>
          <p:cNvSpPr/>
          <p:nvPr/>
        </p:nvSpPr>
        <p:spPr>
          <a:xfrm>
            <a:off x="4902795" y="2772073"/>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16" name="Shape 14"/>
          <p:cNvSpPr/>
          <p:nvPr/>
        </p:nvSpPr>
        <p:spPr>
          <a:xfrm>
            <a:off x="5204520" y="1593751"/>
            <a:ext cx="1808361" cy="2712343"/>
          </a:xfrm>
          <a:prstGeom prst="roundRect">
            <a:avLst>
              <a:gd name="adj" fmla="val 5267"/>
            </a:avLst>
          </a:prstGeom>
          <a:solidFill>
            <a:srgbClr val="FFFFFF"/>
          </a:solidFill>
          <a:ln w="12700">
            <a:solidFill>
              <a:srgbClr val="E2E2DC"/>
            </a:solidFill>
            <a:prstDash val="solid"/>
          </a:ln>
        </p:spPr>
      </p:sp>
      <p:sp>
        <p:nvSpPr>
          <p:cNvPr id="17" name="Text 15"/>
          <p:cNvSpPr/>
          <p:nvPr/>
        </p:nvSpPr>
        <p:spPr>
          <a:xfrm>
            <a:off x="5363270" y="1752501"/>
            <a:ext cx="154166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Agent 3</a:t>
            </a:r>
            <a:endParaRPr lang="en-US" sz="1200" dirty="0"/>
          </a:p>
        </p:txBody>
      </p:sp>
      <p:sp>
        <p:nvSpPr>
          <p:cNvPr id="18" name="Text 16"/>
          <p:cNvSpPr/>
          <p:nvPr/>
        </p:nvSpPr>
        <p:spPr>
          <a:xfrm>
            <a:off x="5363270" y="2029321"/>
            <a:ext cx="15416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Planner</a:t>
            </a:r>
            <a:endParaRPr lang="en-US" sz="1600" dirty="0"/>
          </a:p>
        </p:txBody>
      </p:sp>
      <p:sp>
        <p:nvSpPr>
          <p:cNvPr id="19" name="Text 17"/>
          <p:cNvSpPr/>
          <p:nvPr/>
        </p:nvSpPr>
        <p:spPr>
          <a:xfrm>
            <a:off x="5363270" y="2377281"/>
            <a:ext cx="154166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Finds short weeks and tests serve, move or pre-build</a:t>
            </a:r>
            <a:endParaRPr lang="en-US" sz="1200" dirty="0"/>
          </a:p>
        </p:txBody>
      </p:sp>
      <p:sp>
        <p:nvSpPr>
          <p:cNvPr id="20" name="Text 18"/>
          <p:cNvSpPr/>
          <p:nvPr/>
        </p:nvSpPr>
        <p:spPr>
          <a:xfrm>
            <a:off x="5363270" y="3080742"/>
            <a:ext cx="154166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Uses: capacity check, rule calculator</a:t>
            </a:r>
            <a:endParaRPr lang="en-US" sz="1200" dirty="0"/>
          </a:p>
        </p:txBody>
      </p:sp>
      <p:sp>
        <p:nvSpPr>
          <p:cNvPr id="21" name="Text 19"/>
          <p:cNvSpPr/>
          <p:nvPr/>
        </p:nvSpPr>
        <p:spPr>
          <a:xfrm>
            <a:off x="7095430" y="2772073"/>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22" name="Shape 20"/>
          <p:cNvSpPr/>
          <p:nvPr/>
        </p:nvSpPr>
        <p:spPr>
          <a:xfrm>
            <a:off x="7397155" y="1593751"/>
            <a:ext cx="1808460" cy="2712343"/>
          </a:xfrm>
          <a:prstGeom prst="roundRect">
            <a:avLst>
              <a:gd name="adj" fmla="val 5267"/>
            </a:avLst>
          </a:prstGeom>
          <a:solidFill>
            <a:srgbClr val="FFFFFF"/>
          </a:solidFill>
          <a:ln w="12700">
            <a:solidFill>
              <a:srgbClr val="E2E2DC"/>
            </a:solidFill>
            <a:prstDash val="solid"/>
          </a:ln>
        </p:spPr>
      </p:sp>
      <p:sp>
        <p:nvSpPr>
          <p:cNvPr id="23" name="Text 21"/>
          <p:cNvSpPr/>
          <p:nvPr/>
        </p:nvSpPr>
        <p:spPr>
          <a:xfrm>
            <a:off x="7555905" y="1752501"/>
            <a:ext cx="15417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Agent 4</a:t>
            </a:r>
            <a:endParaRPr lang="en-US" sz="1200" dirty="0"/>
          </a:p>
        </p:txBody>
      </p:sp>
      <p:sp>
        <p:nvSpPr>
          <p:cNvPr id="24" name="Text 22"/>
          <p:cNvSpPr/>
          <p:nvPr/>
        </p:nvSpPr>
        <p:spPr>
          <a:xfrm>
            <a:off x="7555905" y="2029321"/>
            <a:ext cx="154176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Writer</a:t>
            </a:r>
            <a:endParaRPr lang="en-US" sz="1600" dirty="0"/>
          </a:p>
        </p:txBody>
      </p:sp>
      <p:sp>
        <p:nvSpPr>
          <p:cNvPr id="25" name="Text 23"/>
          <p:cNvSpPr/>
          <p:nvPr/>
        </p:nvSpPr>
        <p:spPr>
          <a:xfrm>
            <a:off x="7555905" y="2377281"/>
            <a:ext cx="154176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Drafts the huddle brief, customer replies and ledger notes</a:t>
            </a:r>
            <a:endParaRPr lang="en-US" sz="1200" dirty="0"/>
          </a:p>
        </p:txBody>
      </p:sp>
      <p:sp>
        <p:nvSpPr>
          <p:cNvPr id="26" name="Text 24"/>
          <p:cNvSpPr/>
          <p:nvPr/>
        </p:nvSpPr>
        <p:spPr>
          <a:xfrm>
            <a:off x="7555905" y="3294063"/>
            <a:ext cx="15417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Uses: generative AI</a:t>
            </a:r>
            <a:endParaRPr lang="en-US" sz="1200" dirty="0"/>
          </a:p>
        </p:txBody>
      </p:sp>
      <p:sp>
        <p:nvSpPr>
          <p:cNvPr id="27" name="Text 25"/>
          <p:cNvSpPr/>
          <p:nvPr/>
        </p:nvSpPr>
        <p:spPr>
          <a:xfrm>
            <a:off x="9288165" y="2772073"/>
            <a:ext cx="26997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AA09C"/>
                </a:solidFill>
                <a:latin typeface="Plus Jakarta Sans" pitchFamily="34" charset="0"/>
                <a:ea typeface="Plus Jakarta Sans" pitchFamily="34" charset="-122"/>
                <a:cs typeface="Plus Jakarta Sans" pitchFamily="34" charset="-120"/>
              </a:rPr>
              <a:t>→</a:t>
            </a:r>
            <a:endParaRPr lang="en-US" sz="2000" dirty="0"/>
          </a:p>
        </p:txBody>
      </p:sp>
      <p:sp>
        <p:nvSpPr>
          <p:cNvPr id="28" name="Shape 26"/>
          <p:cNvSpPr/>
          <p:nvPr/>
        </p:nvSpPr>
        <p:spPr>
          <a:xfrm>
            <a:off x="9583539" y="1587401"/>
            <a:ext cx="1795661" cy="2725043"/>
          </a:xfrm>
          <a:prstGeom prst="roundRect">
            <a:avLst>
              <a:gd name="adj" fmla="val 5658"/>
            </a:avLst>
          </a:prstGeom>
          <a:solidFill>
            <a:srgbClr val="1F6B45"/>
          </a:solidFill>
          <a:ln/>
        </p:spPr>
      </p:sp>
      <p:sp>
        <p:nvSpPr>
          <p:cNvPr id="29" name="Text 27"/>
          <p:cNvSpPr/>
          <p:nvPr/>
        </p:nvSpPr>
        <p:spPr>
          <a:xfrm>
            <a:off x="9735939" y="1739801"/>
            <a:ext cx="154166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6E7DC"/>
                </a:solidFill>
                <a:latin typeface="Plus Jakarta Sans" pitchFamily="34" charset="0"/>
                <a:ea typeface="Plus Jakarta Sans" pitchFamily="34" charset="-122"/>
                <a:cs typeface="Plus Jakarta Sans" pitchFamily="34" charset="-120"/>
              </a:rPr>
              <a:t>Checkpoint</a:t>
            </a:r>
            <a:endParaRPr lang="en-US" sz="1200" dirty="0"/>
          </a:p>
        </p:txBody>
      </p:sp>
      <p:sp>
        <p:nvSpPr>
          <p:cNvPr id="30" name="Text 28"/>
          <p:cNvSpPr/>
          <p:nvPr/>
        </p:nvSpPr>
        <p:spPr>
          <a:xfrm>
            <a:off x="9735939" y="2016621"/>
            <a:ext cx="1541661"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Plus Jakarta Sans" pitchFamily="34" charset="0"/>
                <a:ea typeface="Plus Jakarta Sans" pitchFamily="34" charset="-122"/>
                <a:cs typeface="Plus Jakarta Sans" pitchFamily="34" charset="-120"/>
              </a:rPr>
              <a:t>Scheduler approves</a:t>
            </a:r>
            <a:endParaRPr lang="en-US" sz="1600" dirty="0"/>
          </a:p>
        </p:txBody>
      </p:sp>
      <p:sp>
        <p:nvSpPr>
          <p:cNvPr id="31" name="Text 29"/>
          <p:cNvSpPr/>
          <p:nvPr/>
        </p:nvSpPr>
        <p:spPr>
          <a:xfrm>
            <a:off x="9735939" y="2649041"/>
            <a:ext cx="154166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7DC"/>
                </a:solidFill>
                <a:latin typeface="Plus Jakarta Sans" pitchFamily="34" charset="0"/>
                <a:ea typeface="Plus Jakarta Sans" pitchFamily="34" charset="-122"/>
                <a:cs typeface="Plus Jakarta Sans" pitchFamily="34" charset="-120"/>
              </a:rPr>
              <a:t>Nothing is sent or committed without a person</a:t>
            </a:r>
            <a:endParaRPr lang="en-US" sz="1200" dirty="0"/>
          </a:p>
        </p:txBody>
      </p:sp>
      <p:sp>
        <p:nvSpPr>
          <p:cNvPr id="32" name="Shape 30"/>
          <p:cNvSpPr/>
          <p:nvPr/>
        </p:nvSpPr>
        <p:spPr>
          <a:xfrm>
            <a:off x="831850" y="4388644"/>
            <a:ext cx="0" cy="426641"/>
          </a:xfrm>
          <a:prstGeom prst="line">
            <a:avLst/>
          </a:prstGeom>
          <a:noFill/>
          <a:ln w="38100">
            <a:solidFill>
              <a:srgbClr val="1F6B45"/>
            </a:solidFill>
            <a:prstDash val="solid"/>
          </a:ln>
        </p:spPr>
      </p:sp>
      <p:sp>
        <p:nvSpPr>
          <p:cNvPr id="33" name="Text 31"/>
          <p:cNvSpPr/>
          <p:nvPr/>
        </p:nvSpPr>
        <p:spPr>
          <a:xfrm>
            <a:off x="977900" y="4388644"/>
            <a:ext cx="33181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Numbers come from tools, never from the model</a:t>
            </a:r>
            <a:endParaRPr lang="en-US" sz="1200" dirty="0"/>
          </a:p>
        </p:txBody>
      </p:sp>
      <p:sp>
        <p:nvSpPr>
          <p:cNvPr id="34" name="Shape 32"/>
          <p:cNvSpPr/>
          <p:nvPr/>
        </p:nvSpPr>
        <p:spPr>
          <a:xfrm>
            <a:off x="4421684" y="4388644"/>
            <a:ext cx="0" cy="426641"/>
          </a:xfrm>
          <a:prstGeom prst="line">
            <a:avLst/>
          </a:prstGeom>
          <a:noFill/>
          <a:ln w="38100">
            <a:solidFill>
              <a:srgbClr val="1F6B45"/>
            </a:solidFill>
            <a:prstDash val="solid"/>
          </a:ln>
        </p:spPr>
      </p:sp>
      <p:sp>
        <p:nvSpPr>
          <p:cNvPr id="35" name="Text 33"/>
          <p:cNvSpPr/>
          <p:nvPr/>
        </p:nvSpPr>
        <p:spPr>
          <a:xfrm>
            <a:off x="4567734" y="4388644"/>
            <a:ext cx="33181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Every field shows its source and how sure the agent is</a:t>
            </a:r>
            <a:endParaRPr lang="en-US" sz="1200" dirty="0"/>
          </a:p>
        </p:txBody>
      </p:sp>
      <p:sp>
        <p:nvSpPr>
          <p:cNvPr id="36" name="Shape 34"/>
          <p:cNvSpPr/>
          <p:nvPr/>
        </p:nvSpPr>
        <p:spPr>
          <a:xfrm>
            <a:off x="8011517" y="4388644"/>
            <a:ext cx="0" cy="426641"/>
          </a:xfrm>
          <a:prstGeom prst="line">
            <a:avLst/>
          </a:prstGeom>
          <a:noFill/>
          <a:ln w="38100">
            <a:solidFill>
              <a:srgbClr val="1F6B45"/>
            </a:solidFill>
            <a:prstDash val="solid"/>
          </a:ln>
        </p:spPr>
      </p:sp>
      <p:sp>
        <p:nvSpPr>
          <p:cNvPr id="37" name="Text 35"/>
          <p:cNvSpPr/>
          <p:nvPr/>
        </p:nvSpPr>
        <p:spPr>
          <a:xfrm>
            <a:off x="8157567" y="4388644"/>
            <a:ext cx="33181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Orchestrated with LangGraph or Microsoft Foundry, triggered from Power Automate</a:t>
            </a:r>
            <a:endParaRPr lang="en-US" sz="1200" dirty="0"/>
          </a:p>
        </p:txBody>
      </p:sp>
      <p:sp>
        <p:nvSpPr>
          <p:cNvPr id="38" name="Text 36"/>
          <p:cNvSpPr/>
          <p:nvPr/>
        </p:nvSpPr>
        <p:spPr>
          <a:xfrm>
            <a:off x="812800" y="48914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Still premature: forecasting models and letting AI decide. Both come later, once the data is clean.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Intake agent up close</a:t>
            </a:r>
            <a:endParaRPr lang="en-US" sz="1200" dirty="0"/>
          </a:p>
        </p:txBody>
      </p:sp>
      <p:sp>
        <p:nvSpPr>
          <p:cNvPr id="3" name="Text 1"/>
          <p:cNvSpPr/>
          <p:nvPr>
            <p:ph type="title"/>
          </p:nvPr>
        </p:nvSpPr>
        <p:spPr>
          <a:xfrm>
            <a:off x="812800" y="11023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From a WhatsApp message to a clean order</a:t>
            </a:r>
            <a:endParaRPr lang="en-US" sz="2800" dirty="0"/>
          </a:p>
        </p:txBody>
      </p:sp>
      <p:sp>
        <p:nvSpPr>
          <p:cNvPr id="4" name="Text 2"/>
          <p:cNvSpPr/>
          <p:nvPr/>
        </p:nvSpPr>
        <p:spPr>
          <a:xfrm>
            <a:off x="812800" y="214868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What actually arrives</a:t>
            </a:r>
            <a:endParaRPr lang="en-US" sz="1200" dirty="0"/>
          </a:p>
        </p:txBody>
      </p:sp>
      <p:sp>
        <p:nvSpPr>
          <p:cNvPr id="5" name="Shape 3"/>
          <p:cNvSpPr/>
          <p:nvPr/>
        </p:nvSpPr>
        <p:spPr>
          <a:xfrm>
            <a:off x="812800" y="2463602"/>
            <a:ext cx="3810000" cy="1473101"/>
          </a:xfrm>
          <a:custGeom>
            <a:avLst/>
            <a:gdLst/>
            <a:ahLst/>
            <a:cxnLst/>
            <a:rect l="l" t="t" r="r" b="b"/>
            <a:pathLst>
              <a:path w="3810000" h="1473101">
                <a:moveTo>
                  <a:pt x="152400" y="0"/>
                </a:moveTo>
                <a:lnTo>
                  <a:pt x="3657600" y="0"/>
                </a:lnTo>
                <a:arcTo hR="152400" wR="152400" stAng="16200000" swAng="5400000"/>
                <a:lnTo>
                  <a:pt x="3810000" y="1320701"/>
                </a:lnTo>
                <a:arcTo hR="152400" wR="152400" stAng="0" swAng="5400000"/>
                <a:lnTo>
                  <a:pt x="38100" y="1473101"/>
                </a:lnTo>
                <a:arcTo hR="38100" wR="38100" stAng="5400000" swAng="5400000"/>
                <a:lnTo>
                  <a:pt x="0" y="152400"/>
                </a:lnTo>
                <a:arcTo hR="152400" wR="152400" stAng="10800000" swAng="5400000"/>
                <a:close/>
              </a:path>
            </a:pathLst>
          </a:custGeom>
          <a:solidFill>
            <a:srgbClr val="D9FDD3"/>
          </a:solidFill>
          <a:ln/>
        </p:spPr>
      </p:sp>
      <p:sp>
        <p:nvSpPr>
          <p:cNvPr id="6" name="Text 4"/>
          <p:cNvSpPr/>
          <p:nvPr/>
        </p:nvSpPr>
        <p:spPr>
          <a:xfrm>
            <a:off x="1016000" y="2641402"/>
            <a:ext cx="350570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Boss, Project A site need 1,500 m3 AAC 100mm by Tue 20 Oct. Can confirm ya</a:t>
            </a:r>
            <a:endParaRPr lang="en-US" sz="1600" dirty="0"/>
          </a:p>
        </p:txBody>
      </p:sp>
      <p:sp>
        <p:nvSpPr>
          <p:cNvPr id="7" name="Text 5"/>
          <p:cNvSpPr/>
          <p:nvPr/>
        </p:nvSpPr>
        <p:spPr>
          <a:xfrm>
            <a:off x="913892" y="3545582"/>
            <a:ext cx="350570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9:42 AM</a:t>
            </a:r>
            <a:endParaRPr lang="en-US" sz="1200" dirty="0"/>
          </a:p>
        </p:txBody>
      </p:sp>
      <p:sp>
        <p:nvSpPr>
          <p:cNvPr id="8" name="Text 6"/>
          <p:cNvSpPr/>
          <p:nvPr/>
        </p:nvSpPr>
        <p:spPr>
          <a:xfrm>
            <a:off x="4876800" y="2793802"/>
            <a:ext cx="368260" cy="523180"/>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6B45"/>
                </a:solidFill>
                <a:latin typeface="Plus Jakarta Sans" pitchFamily="34" charset="0"/>
                <a:ea typeface="Plus Jakarta Sans" pitchFamily="34" charset="-122"/>
                <a:cs typeface="Plus Jakarta Sans" pitchFamily="34" charset="-120"/>
              </a:rPr>
              <a:t>→</a:t>
            </a:r>
            <a:endParaRPr lang="en-US" sz="2800" dirty="0"/>
          </a:p>
        </p:txBody>
      </p:sp>
      <p:sp>
        <p:nvSpPr>
          <p:cNvPr id="9" name="Text 7"/>
          <p:cNvSpPr/>
          <p:nvPr/>
        </p:nvSpPr>
        <p:spPr>
          <a:xfrm>
            <a:off x="5437684" y="1587401"/>
            <a:ext cx="61197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What the board receives</a:t>
            </a:r>
            <a:endParaRPr lang="en-US" sz="1200" dirty="0"/>
          </a:p>
        </p:txBody>
      </p:sp>
      <p:sp>
        <p:nvSpPr>
          <p:cNvPr id="10" name="Shape 8"/>
          <p:cNvSpPr/>
          <p:nvPr/>
        </p:nvSpPr>
        <p:spPr>
          <a:xfrm>
            <a:off x="5444034" y="1908671"/>
            <a:ext cx="5928816" cy="2583061"/>
          </a:xfrm>
          <a:prstGeom prst="roundRect">
            <a:avLst>
              <a:gd name="adj" fmla="val 3687"/>
            </a:avLst>
          </a:prstGeom>
          <a:solidFill>
            <a:srgbClr val="FFFFFF"/>
          </a:solidFill>
          <a:ln w="12700">
            <a:solidFill>
              <a:srgbClr val="E2E2DC"/>
            </a:solidFill>
            <a:prstDash val="solid"/>
          </a:ln>
        </p:spPr>
      </p:sp>
      <p:sp>
        <p:nvSpPr>
          <p:cNvPr id="11" name="Shape 9"/>
          <p:cNvSpPr/>
          <p:nvPr/>
        </p:nvSpPr>
        <p:spPr>
          <a:xfrm>
            <a:off x="5653584" y="2456656"/>
            <a:ext cx="5509716" cy="0"/>
          </a:xfrm>
          <a:prstGeom prst="line">
            <a:avLst/>
          </a:prstGeom>
          <a:noFill/>
          <a:ln w="6350">
            <a:solidFill>
              <a:srgbClr val="E2E2DC"/>
            </a:solidFill>
            <a:prstDash val="solid"/>
          </a:ln>
        </p:spPr>
      </p:sp>
      <p:sp>
        <p:nvSpPr>
          <p:cNvPr id="12" name="Text 10"/>
          <p:cNvSpPr/>
          <p:nvPr/>
        </p:nvSpPr>
        <p:spPr>
          <a:xfrm>
            <a:off x="5653584" y="210294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Customer</a:t>
            </a:r>
            <a:endParaRPr lang="en-US" sz="1200" dirty="0"/>
          </a:p>
        </p:txBody>
      </p:sp>
      <p:sp>
        <p:nvSpPr>
          <p:cNvPr id="13" name="Text 11"/>
          <p:cNvSpPr/>
          <p:nvPr/>
        </p:nvSpPr>
        <p:spPr>
          <a:xfrm>
            <a:off x="7177584" y="2067421"/>
            <a:ext cx="32921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Project A (internal)</a:t>
            </a:r>
            <a:endParaRPr lang="en-US" sz="1600" dirty="0"/>
          </a:p>
        </p:txBody>
      </p:sp>
      <p:sp>
        <p:nvSpPr>
          <p:cNvPr id="14" name="Text 12"/>
          <p:cNvSpPr/>
          <p:nvPr/>
        </p:nvSpPr>
        <p:spPr>
          <a:xfrm>
            <a:off x="10373816" y="2102941"/>
            <a:ext cx="840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Confirmed</a:t>
            </a:r>
            <a:endParaRPr lang="en-US" sz="1200" dirty="0"/>
          </a:p>
        </p:txBody>
      </p:sp>
      <p:sp>
        <p:nvSpPr>
          <p:cNvPr id="15" name="Shape 13"/>
          <p:cNvSpPr/>
          <p:nvPr/>
        </p:nvSpPr>
        <p:spPr>
          <a:xfrm>
            <a:off x="5653584" y="2950666"/>
            <a:ext cx="5509716" cy="0"/>
          </a:xfrm>
          <a:prstGeom prst="line">
            <a:avLst/>
          </a:prstGeom>
          <a:noFill/>
          <a:ln w="6350">
            <a:solidFill>
              <a:srgbClr val="E2E2DC"/>
            </a:solidFill>
            <a:prstDash val="solid"/>
          </a:ln>
        </p:spPr>
      </p:sp>
      <p:sp>
        <p:nvSpPr>
          <p:cNvPr id="16" name="Text 14"/>
          <p:cNvSpPr/>
          <p:nvPr/>
        </p:nvSpPr>
        <p:spPr>
          <a:xfrm>
            <a:off x="5653584" y="259695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Product</a:t>
            </a:r>
            <a:endParaRPr lang="en-US" sz="1200" dirty="0"/>
          </a:p>
        </p:txBody>
      </p:sp>
      <p:sp>
        <p:nvSpPr>
          <p:cNvPr id="17" name="Text 15"/>
          <p:cNvSpPr/>
          <p:nvPr/>
        </p:nvSpPr>
        <p:spPr>
          <a:xfrm>
            <a:off x="7177584" y="2561431"/>
            <a:ext cx="32921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AAC block, 100 mm</a:t>
            </a:r>
            <a:endParaRPr lang="en-US" sz="1600" dirty="0"/>
          </a:p>
        </p:txBody>
      </p:sp>
      <p:sp>
        <p:nvSpPr>
          <p:cNvPr id="18" name="Text 16"/>
          <p:cNvSpPr/>
          <p:nvPr/>
        </p:nvSpPr>
        <p:spPr>
          <a:xfrm>
            <a:off x="10373816" y="2596952"/>
            <a:ext cx="840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Confirmed</a:t>
            </a:r>
            <a:endParaRPr lang="en-US" sz="1200" dirty="0"/>
          </a:p>
        </p:txBody>
      </p:sp>
      <p:sp>
        <p:nvSpPr>
          <p:cNvPr id="19" name="Shape 17"/>
          <p:cNvSpPr/>
          <p:nvPr/>
        </p:nvSpPr>
        <p:spPr>
          <a:xfrm>
            <a:off x="5653584" y="3444677"/>
            <a:ext cx="5509716" cy="0"/>
          </a:xfrm>
          <a:prstGeom prst="line">
            <a:avLst/>
          </a:prstGeom>
          <a:noFill/>
          <a:ln w="6350">
            <a:solidFill>
              <a:srgbClr val="E2E2DC"/>
            </a:solidFill>
            <a:prstDash val="solid"/>
          </a:ln>
        </p:spPr>
      </p:sp>
      <p:sp>
        <p:nvSpPr>
          <p:cNvPr id="20" name="Text 18"/>
          <p:cNvSpPr/>
          <p:nvPr/>
        </p:nvSpPr>
        <p:spPr>
          <a:xfrm>
            <a:off x="5653584" y="309096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Volume</a:t>
            </a:r>
            <a:endParaRPr lang="en-US" sz="1200" dirty="0"/>
          </a:p>
        </p:txBody>
      </p:sp>
      <p:sp>
        <p:nvSpPr>
          <p:cNvPr id="21" name="Text 19"/>
          <p:cNvSpPr/>
          <p:nvPr/>
        </p:nvSpPr>
        <p:spPr>
          <a:xfrm>
            <a:off x="7177584" y="3055441"/>
            <a:ext cx="32921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1,500 m³</a:t>
            </a:r>
            <a:endParaRPr lang="en-US" sz="1600" dirty="0"/>
          </a:p>
        </p:txBody>
      </p:sp>
      <p:sp>
        <p:nvSpPr>
          <p:cNvPr id="22" name="Text 20"/>
          <p:cNvSpPr/>
          <p:nvPr/>
        </p:nvSpPr>
        <p:spPr>
          <a:xfrm>
            <a:off x="10373816" y="3090962"/>
            <a:ext cx="840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Confirmed</a:t>
            </a:r>
            <a:endParaRPr lang="en-US" sz="1200" dirty="0"/>
          </a:p>
        </p:txBody>
      </p:sp>
      <p:sp>
        <p:nvSpPr>
          <p:cNvPr id="23" name="Shape 21"/>
          <p:cNvSpPr/>
          <p:nvPr/>
        </p:nvSpPr>
        <p:spPr>
          <a:xfrm>
            <a:off x="5653584" y="3938687"/>
            <a:ext cx="5509716" cy="0"/>
          </a:xfrm>
          <a:prstGeom prst="line">
            <a:avLst/>
          </a:prstGeom>
          <a:noFill/>
          <a:ln w="6350">
            <a:solidFill>
              <a:srgbClr val="E2E2DC"/>
            </a:solidFill>
            <a:prstDash val="solid"/>
          </a:ln>
        </p:spPr>
      </p:sp>
      <p:sp>
        <p:nvSpPr>
          <p:cNvPr id="24" name="Text 22"/>
          <p:cNvSpPr/>
          <p:nvPr/>
        </p:nvSpPr>
        <p:spPr>
          <a:xfrm>
            <a:off x="5653584" y="358497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Needed by</a:t>
            </a:r>
            <a:endParaRPr lang="en-US" sz="1200" dirty="0"/>
          </a:p>
        </p:txBody>
      </p:sp>
      <p:sp>
        <p:nvSpPr>
          <p:cNvPr id="25" name="Text 23"/>
          <p:cNvSpPr/>
          <p:nvPr/>
        </p:nvSpPr>
        <p:spPr>
          <a:xfrm>
            <a:off x="7177584" y="3549452"/>
            <a:ext cx="32921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Tue 20 Oct</a:t>
            </a:r>
            <a:endParaRPr lang="en-US" sz="1600" dirty="0"/>
          </a:p>
        </p:txBody>
      </p:sp>
      <p:sp>
        <p:nvSpPr>
          <p:cNvPr id="26" name="Text 24"/>
          <p:cNvSpPr/>
          <p:nvPr/>
        </p:nvSpPr>
        <p:spPr>
          <a:xfrm>
            <a:off x="10373816" y="3584972"/>
            <a:ext cx="840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Confirmed</a:t>
            </a:r>
            <a:endParaRPr lang="en-US" sz="1200" dirty="0"/>
          </a:p>
        </p:txBody>
      </p:sp>
      <p:sp>
        <p:nvSpPr>
          <p:cNvPr id="27" name="Text 25"/>
          <p:cNvSpPr/>
          <p:nvPr/>
        </p:nvSpPr>
        <p:spPr>
          <a:xfrm>
            <a:off x="5653584" y="4081562"/>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Firm or likely?</a:t>
            </a:r>
            <a:endParaRPr lang="en-US" sz="1200" dirty="0"/>
          </a:p>
        </p:txBody>
      </p:sp>
      <p:sp>
        <p:nvSpPr>
          <p:cNvPr id="28" name="Text 26"/>
          <p:cNvSpPr/>
          <p:nvPr/>
        </p:nvSpPr>
        <p:spPr>
          <a:xfrm>
            <a:off x="7177584" y="4045942"/>
            <a:ext cx="340167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F1C"/>
                </a:solidFill>
                <a:latin typeface="Plus Jakarta Sans" pitchFamily="34" charset="0"/>
                <a:ea typeface="Plus Jakarta Sans" pitchFamily="34" charset="-122"/>
                <a:cs typeface="Plus Jakarta Sans" pitchFamily="34" charset="-120"/>
              </a:rPr>
              <a:t>Likely: no call-off yet</a:t>
            </a:r>
            <a:endParaRPr lang="en-US" sz="1600" dirty="0"/>
          </a:p>
        </p:txBody>
      </p:sp>
      <p:sp>
        <p:nvSpPr>
          <p:cNvPr id="29" name="Text 27"/>
          <p:cNvSpPr/>
          <p:nvPr/>
        </p:nvSpPr>
        <p:spPr>
          <a:xfrm>
            <a:off x="10480179" y="4043462"/>
            <a:ext cx="683121" cy="289520"/>
          </a:xfrm>
          <a:custGeom>
            <a:avLst/>
            <a:gdLst/>
            <a:ahLst/>
            <a:cxnLst/>
            <a:rect l="l" t="t" r="r" b="b"/>
            <a:pathLst>
              <a:path w="683121" h="289520">
                <a:moveTo>
                  <a:pt x="144760" y="0"/>
                </a:moveTo>
                <a:lnTo>
                  <a:pt x="538361" y="0"/>
                </a:lnTo>
                <a:arcTo hR="144760" wR="144760" stAng="16200000" swAng="5400000"/>
                <a:lnTo>
                  <a:pt x="683121" y="144760"/>
                </a:lnTo>
                <a:arcTo hR="144760" wR="144760" stAng="0" swAng="5400000"/>
                <a:lnTo>
                  <a:pt x="144760" y="289520"/>
                </a:lnTo>
                <a:arcTo hR="144760" wR="144760" stAng="5400000" swAng="5400000"/>
                <a:lnTo>
                  <a:pt x="0" y="144760"/>
                </a:lnTo>
                <a:arcTo hR="144760" wR="144760" stAng="10800000" swAng="5400000"/>
                <a:close/>
              </a:path>
            </a:pathLst>
          </a:custGeom>
          <a:solidFill>
            <a:srgbClr val="F8E7E4"/>
          </a:solidFill>
          <a:ln/>
        </p:spPr>
        <p:txBody>
          <a:bodyPr wrap="none" lIns="0" tIns="0" rIns="0" bIns="0" rtlCol="0" anchor="ctr">
            <a:normAutofit/>
          </a:bodyPr>
          <a:lstStyle/>
          <a:p>
            <a:pPr algn="ctr" indent="0" marL="0">
              <a:lnSpc>
                <a:spcPts val="1680"/>
              </a:lnSpc>
              <a:buNone/>
            </a:pPr>
            <a:r>
              <a:rPr lang="en-US" sz="1200" b="1" dirty="0">
                <a:solidFill>
                  <a:srgbClr val="B03A2E"/>
                </a:solidFill>
                <a:latin typeface="Plus Jakarta Sans" pitchFamily="34" charset="0"/>
                <a:ea typeface="Plus Jakarta Sans" pitchFamily="34" charset="-122"/>
                <a:cs typeface="Plus Jakarta Sans" pitchFamily="34" charset="-120"/>
              </a:rPr>
              <a:t>Check</a:t>
            </a:r>
            <a:endParaRPr lang="en-US" sz="1200" dirty="0"/>
          </a:p>
        </p:txBody>
      </p:sp>
      <p:sp>
        <p:nvSpPr>
          <p:cNvPr id="30" name="Text 28"/>
          <p:cNvSpPr/>
          <p:nvPr/>
        </p:nvSpPr>
        <p:spPr>
          <a:xfrm>
            <a:off x="812800" y="457428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F1C"/>
                </a:solidFill>
                <a:latin typeface="Plus Jakarta Sans" pitchFamily="34" charset="0"/>
                <a:ea typeface="Plus Jakarta Sans" pitchFamily="34" charset="-122"/>
                <a:cs typeface="Plus Jakarta Sans" pitchFamily="34" charset="-120"/>
              </a:rPr>
              <a:t>If the AI isn't sure, it asks a person. It never guesses.</a:t>
            </a:r>
            <a:endParaRPr lang="en-US" sz="16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Illustrative message. Same source-first approach as VERA AI, the knowledge assistant I built at PETRONAS.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The dashboard: Plant Load Radar in one screen</a:t>
            </a:r>
            <a:endParaRPr lang="en-US" sz="2800" dirty="0"/>
          </a:p>
        </p:txBody>
      </p:sp>
      <p:sp>
        <p:nvSpPr>
          <p:cNvPr id="3" name="Shape 1"/>
          <p:cNvSpPr/>
          <p:nvPr/>
        </p:nvSpPr>
        <p:spPr>
          <a:xfrm>
            <a:off x="819150" y="1177230"/>
            <a:ext cx="10553700" cy="4826695"/>
          </a:xfrm>
          <a:prstGeom prst="roundRect">
            <a:avLst>
              <a:gd name="adj" fmla="val 2500"/>
            </a:avLst>
          </a:prstGeom>
          <a:solidFill>
            <a:srgbClr val="FFFFFF"/>
          </a:solidFill>
          <a:ln w="12700">
            <a:solidFill>
              <a:srgbClr val="E2E2DC"/>
            </a:solidFill>
            <a:prstDash val="solid"/>
          </a:ln>
        </p:spPr>
      </p:sp>
      <p:sp>
        <p:nvSpPr>
          <p:cNvPr id="4" name="Shape 2"/>
          <p:cNvSpPr/>
          <p:nvPr/>
        </p:nvSpPr>
        <p:spPr>
          <a:xfrm>
            <a:off x="825500" y="1183580"/>
            <a:ext cx="1651000" cy="4813995"/>
          </a:xfrm>
          <a:custGeom>
            <a:avLst/>
            <a:gdLst/>
            <a:ahLst/>
            <a:cxnLst/>
            <a:rect l="l" t="t" r="r" b="b"/>
            <a:pathLst>
              <a:path w="1651000" h="4813995">
                <a:moveTo>
                  <a:pt x="0" y="114300"/>
                </a:moveTo>
                <a:arcTo hR="114300" wR="114300" stAng="10800000" swAng="5400000"/>
                <a:lnTo>
                  <a:pt x="1651000" y="0"/>
                </a:lnTo>
                <a:lnTo>
                  <a:pt x="1651000" y="4813995"/>
                </a:lnTo>
                <a:lnTo>
                  <a:pt x="114300" y="4813995"/>
                </a:lnTo>
                <a:arcTo hR="114300" wR="114300" stAng="5400000" swAng="5400000"/>
                <a:close/>
              </a:path>
            </a:pathLst>
          </a:custGeom>
          <a:solidFill>
            <a:srgbClr val="16402B"/>
          </a:solidFill>
          <a:ln/>
        </p:spPr>
      </p:sp>
      <p:sp>
        <p:nvSpPr>
          <p:cNvPr id="5" name="Text 3"/>
          <p:cNvSpPr/>
          <p:nvPr/>
        </p:nvSpPr>
        <p:spPr>
          <a:xfrm>
            <a:off x="952500" y="1361380"/>
            <a:ext cx="1447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Plant Load Radar</a:t>
            </a:r>
            <a:endParaRPr lang="en-US" sz="1200" dirty="0"/>
          </a:p>
        </p:txBody>
      </p:sp>
      <p:sp>
        <p:nvSpPr>
          <p:cNvPr id="6" name="Text 4"/>
          <p:cNvSpPr/>
          <p:nvPr/>
        </p:nvSpPr>
        <p:spPr>
          <a:xfrm>
            <a:off x="952500" y="1752501"/>
            <a:ext cx="1397000" cy="340320"/>
          </a:xfrm>
          <a:prstGeom prst="roundRect">
            <a:avLst>
              <a:gd name="adj" fmla="val 18659"/>
            </a:avLst>
          </a:prstGeom>
          <a:solidFill>
            <a:srgbClr val="1F6B45"/>
          </a:solidFill>
          <a:ln/>
        </p:spPr>
        <p:txBody>
          <a:bodyPr wrap="square" lIns="70301" tIns="44901" rIns="19501" bIns="19501" rtlCol="0" anchor="t">
            <a:normAutofit/>
          </a:bodyPr>
          <a:lstStyle/>
          <a:p>
            <a:pPr algn="l"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Board</a:t>
            </a:r>
            <a:endParaRPr lang="en-US" sz="1200" dirty="0"/>
          </a:p>
        </p:txBody>
      </p:sp>
      <p:sp>
        <p:nvSpPr>
          <p:cNvPr id="7" name="Text 5"/>
          <p:cNvSpPr/>
          <p:nvPr/>
        </p:nvSpPr>
        <p:spPr>
          <a:xfrm>
            <a:off x="1041400" y="2207121"/>
            <a:ext cx="127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D9CD"/>
                </a:solidFill>
                <a:latin typeface="Plus Jakarta Sans" pitchFamily="34" charset="0"/>
                <a:ea typeface="Plus Jakarta Sans" pitchFamily="34" charset="-122"/>
                <a:cs typeface="Plus Jakarta Sans" pitchFamily="34" charset="-120"/>
              </a:rPr>
              <a:t>Orders inbox (3)</a:t>
            </a:r>
            <a:endParaRPr lang="en-US" sz="1200" dirty="0"/>
          </a:p>
        </p:txBody>
      </p:sp>
      <p:sp>
        <p:nvSpPr>
          <p:cNvPr id="8" name="Text 6"/>
          <p:cNvSpPr/>
          <p:nvPr/>
        </p:nvSpPr>
        <p:spPr>
          <a:xfrm>
            <a:off x="1041400" y="2598241"/>
            <a:ext cx="127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D9CD"/>
                </a:solidFill>
                <a:latin typeface="Plus Jakarta Sans" pitchFamily="34" charset="0"/>
                <a:ea typeface="Plus Jakarta Sans" pitchFamily="34" charset="-122"/>
                <a:cs typeface="Plus Jakarta Sans" pitchFamily="34" charset="-120"/>
              </a:rPr>
              <a:t>Decisions</a:t>
            </a:r>
            <a:endParaRPr lang="en-US" sz="1200" dirty="0"/>
          </a:p>
        </p:txBody>
      </p:sp>
      <p:sp>
        <p:nvSpPr>
          <p:cNvPr id="9" name="Text 7"/>
          <p:cNvSpPr/>
          <p:nvPr/>
        </p:nvSpPr>
        <p:spPr>
          <a:xfrm>
            <a:off x="1041400" y="2989362"/>
            <a:ext cx="127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D9CD"/>
                </a:solidFill>
                <a:latin typeface="Plus Jakarta Sans" pitchFamily="34" charset="0"/>
                <a:ea typeface="Plus Jakarta Sans" pitchFamily="34" charset="-122"/>
                <a:cs typeface="Plus Jakarta Sans" pitchFamily="34" charset="-120"/>
              </a:rPr>
              <a:t>Ledger</a:t>
            </a:r>
            <a:endParaRPr lang="en-US" sz="1200" dirty="0"/>
          </a:p>
        </p:txBody>
      </p:sp>
      <p:sp>
        <p:nvSpPr>
          <p:cNvPr id="10" name="Text 8"/>
          <p:cNvSpPr/>
          <p:nvPr/>
        </p:nvSpPr>
        <p:spPr>
          <a:xfrm>
            <a:off x="1041400" y="3380482"/>
            <a:ext cx="1270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D9CD"/>
                </a:solidFill>
                <a:latin typeface="Plus Jakarta Sans" pitchFamily="34" charset="0"/>
                <a:ea typeface="Plus Jakarta Sans" pitchFamily="34" charset="-122"/>
                <a:cs typeface="Plus Jakarta Sans" pitchFamily="34" charset="-120"/>
              </a:rPr>
              <a:t>Ask the board</a:t>
            </a:r>
            <a:endParaRPr lang="en-US" sz="1200" dirty="0"/>
          </a:p>
        </p:txBody>
      </p:sp>
      <p:sp>
        <p:nvSpPr>
          <p:cNvPr id="11" name="Text 9"/>
          <p:cNvSpPr/>
          <p:nvPr/>
        </p:nvSpPr>
        <p:spPr>
          <a:xfrm>
            <a:off x="2654300" y="1335980"/>
            <a:ext cx="31995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Plant S · AAC blocks · weeks 41 to 46</a:t>
            </a:r>
            <a:endParaRPr lang="en-US" sz="1200" dirty="0"/>
          </a:p>
        </p:txBody>
      </p:sp>
      <p:sp>
        <p:nvSpPr>
          <p:cNvPr id="12" name="Text 10"/>
          <p:cNvSpPr/>
          <p:nvPr/>
        </p:nvSpPr>
        <p:spPr>
          <a:xfrm>
            <a:off x="6363335" y="1335980"/>
            <a:ext cx="482536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Updated 9:42 AM · 3 new orders read by the intake agent</a:t>
            </a:r>
            <a:endParaRPr lang="en-US" sz="1200" dirty="0"/>
          </a:p>
        </p:txBody>
      </p:sp>
      <p:sp>
        <p:nvSpPr>
          <p:cNvPr id="13" name="Shape 11"/>
          <p:cNvSpPr/>
          <p:nvPr/>
        </p:nvSpPr>
        <p:spPr>
          <a:xfrm>
            <a:off x="2654300" y="1650901"/>
            <a:ext cx="2057400" cy="797520"/>
          </a:xfrm>
          <a:prstGeom prst="roundRect">
            <a:avLst>
              <a:gd name="adj" fmla="val 9555"/>
            </a:avLst>
          </a:prstGeom>
          <a:solidFill>
            <a:srgbClr val="F8E7E4"/>
          </a:solidFill>
          <a:ln/>
        </p:spPr>
      </p:sp>
      <p:sp>
        <p:nvSpPr>
          <p:cNvPr id="14" name="Text 12"/>
          <p:cNvSpPr/>
          <p:nvPr/>
        </p:nvSpPr>
        <p:spPr>
          <a:xfrm>
            <a:off x="2781300" y="175250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Weeks short</a:t>
            </a:r>
            <a:endParaRPr lang="en-US" sz="1200" dirty="0"/>
          </a:p>
        </p:txBody>
      </p:sp>
      <p:sp>
        <p:nvSpPr>
          <p:cNvPr id="15" name="Text 13"/>
          <p:cNvSpPr/>
          <p:nvPr/>
        </p:nvSpPr>
        <p:spPr>
          <a:xfrm>
            <a:off x="2781300" y="1991221"/>
            <a:ext cx="185750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3A2E"/>
                </a:solidFill>
                <a:latin typeface="Plus Jakarta Sans" pitchFamily="34" charset="0"/>
                <a:ea typeface="Plus Jakarta Sans" pitchFamily="34" charset="-122"/>
                <a:cs typeface="Plus Jakarta Sans" pitchFamily="34" charset="-120"/>
              </a:rPr>
              <a:t>2</a:t>
            </a:r>
            <a:endParaRPr lang="en-US" sz="2000" dirty="0"/>
          </a:p>
        </p:txBody>
      </p:sp>
      <p:sp>
        <p:nvSpPr>
          <p:cNvPr id="16" name="Shape 14"/>
          <p:cNvSpPr/>
          <p:nvPr/>
        </p:nvSpPr>
        <p:spPr>
          <a:xfrm>
            <a:off x="4813300" y="1650901"/>
            <a:ext cx="2057400" cy="797520"/>
          </a:xfrm>
          <a:prstGeom prst="roundRect">
            <a:avLst>
              <a:gd name="adj" fmla="val 9555"/>
            </a:avLst>
          </a:prstGeom>
          <a:solidFill>
            <a:srgbClr val="F4F4EF"/>
          </a:solidFill>
          <a:ln/>
        </p:spPr>
      </p:sp>
      <p:sp>
        <p:nvSpPr>
          <p:cNvPr id="17" name="Text 15"/>
          <p:cNvSpPr/>
          <p:nvPr/>
        </p:nvSpPr>
        <p:spPr>
          <a:xfrm>
            <a:off x="4940300" y="175250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Orders to check</a:t>
            </a:r>
            <a:endParaRPr lang="en-US" sz="1200" dirty="0"/>
          </a:p>
        </p:txBody>
      </p:sp>
      <p:sp>
        <p:nvSpPr>
          <p:cNvPr id="18" name="Text 16"/>
          <p:cNvSpPr/>
          <p:nvPr/>
        </p:nvSpPr>
        <p:spPr>
          <a:xfrm>
            <a:off x="4940300" y="1991221"/>
            <a:ext cx="185750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B1F1C"/>
                </a:solidFill>
                <a:latin typeface="Plus Jakarta Sans" pitchFamily="34" charset="0"/>
                <a:ea typeface="Plus Jakarta Sans" pitchFamily="34" charset="-122"/>
                <a:cs typeface="Plus Jakarta Sans" pitchFamily="34" charset="-120"/>
              </a:rPr>
              <a:t>3</a:t>
            </a:r>
            <a:endParaRPr lang="en-US" sz="2000" dirty="0"/>
          </a:p>
        </p:txBody>
      </p:sp>
      <p:sp>
        <p:nvSpPr>
          <p:cNvPr id="19" name="Shape 17"/>
          <p:cNvSpPr/>
          <p:nvPr/>
        </p:nvSpPr>
        <p:spPr>
          <a:xfrm>
            <a:off x="6972300" y="1650901"/>
            <a:ext cx="2057400" cy="797520"/>
          </a:xfrm>
          <a:prstGeom prst="roundRect">
            <a:avLst>
              <a:gd name="adj" fmla="val 9555"/>
            </a:avLst>
          </a:prstGeom>
          <a:solidFill>
            <a:srgbClr val="F4F4EF"/>
          </a:solidFill>
          <a:ln/>
        </p:spPr>
      </p:sp>
      <p:sp>
        <p:nvSpPr>
          <p:cNvPr id="20" name="Text 18"/>
          <p:cNvSpPr/>
          <p:nvPr/>
        </p:nvSpPr>
        <p:spPr>
          <a:xfrm>
            <a:off x="7099300" y="175250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Decisions waiting</a:t>
            </a:r>
            <a:endParaRPr lang="en-US" sz="1200" dirty="0"/>
          </a:p>
        </p:txBody>
      </p:sp>
      <p:sp>
        <p:nvSpPr>
          <p:cNvPr id="21" name="Text 19"/>
          <p:cNvSpPr/>
          <p:nvPr/>
        </p:nvSpPr>
        <p:spPr>
          <a:xfrm>
            <a:off x="7099300" y="1991221"/>
            <a:ext cx="185750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B1F1C"/>
                </a:solidFill>
                <a:latin typeface="Plus Jakarta Sans" pitchFamily="34" charset="0"/>
                <a:ea typeface="Plus Jakarta Sans" pitchFamily="34" charset="-122"/>
                <a:cs typeface="Plus Jakarta Sans" pitchFamily="34" charset="-120"/>
              </a:rPr>
              <a:t>1</a:t>
            </a:r>
            <a:endParaRPr lang="en-US" sz="2000" dirty="0"/>
          </a:p>
        </p:txBody>
      </p:sp>
      <p:sp>
        <p:nvSpPr>
          <p:cNvPr id="22" name="Shape 20"/>
          <p:cNvSpPr/>
          <p:nvPr/>
        </p:nvSpPr>
        <p:spPr>
          <a:xfrm>
            <a:off x="9131300" y="1650901"/>
            <a:ext cx="2057400" cy="797520"/>
          </a:xfrm>
          <a:prstGeom prst="roundRect">
            <a:avLst>
              <a:gd name="adj" fmla="val 9555"/>
            </a:avLst>
          </a:prstGeom>
          <a:solidFill>
            <a:srgbClr val="EAF2EC"/>
          </a:solidFill>
          <a:ln/>
        </p:spPr>
      </p:sp>
      <p:sp>
        <p:nvSpPr>
          <p:cNvPr id="23" name="Text 21"/>
          <p:cNvSpPr/>
          <p:nvPr/>
        </p:nvSpPr>
        <p:spPr>
          <a:xfrm>
            <a:off x="9258300" y="175250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Protected this month</a:t>
            </a:r>
            <a:endParaRPr lang="en-US" sz="1200" dirty="0"/>
          </a:p>
        </p:txBody>
      </p:sp>
      <p:sp>
        <p:nvSpPr>
          <p:cNvPr id="24" name="Text 22"/>
          <p:cNvSpPr/>
          <p:nvPr/>
        </p:nvSpPr>
        <p:spPr>
          <a:xfrm>
            <a:off x="9258300" y="1991221"/>
            <a:ext cx="185750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6B45"/>
                </a:solidFill>
                <a:latin typeface="Plus Jakarta Sans" pitchFamily="34" charset="0"/>
                <a:ea typeface="Plus Jakarta Sans" pitchFamily="34" charset="-122"/>
                <a:cs typeface="Plus Jakarta Sans" pitchFamily="34" charset="-120"/>
              </a:rPr>
              <a:t>RM246k</a:t>
            </a:r>
            <a:endParaRPr lang="en-US" sz="2000" dirty="0"/>
          </a:p>
        </p:txBody>
      </p:sp>
      <p:sp>
        <p:nvSpPr>
          <p:cNvPr id="25" name="Shape 23"/>
          <p:cNvSpPr/>
          <p:nvPr/>
        </p:nvSpPr>
        <p:spPr>
          <a:xfrm>
            <a:off x="2660650" y="2556371"/>
            <a:ext cx="5575300" cy="2026543"/>
          </a:xfrm>
          <a:prstGeom prst="roundRect">
            <a:avLst>
              <a:gd name="adj" fmla="val 3447"/>
            </a:avLst>
          </a:prstGeom>
          <a:noFill/>
          <a:ln w="12700">
            <a:solidFill>
              <a:srgbClr val="EFEFEA"/>
            </a:solidFill>
            <a:prstDash val="solid"/>
          </a:ln>
        </p:spPr>
      </p:sp>
      <p:sp>
        <p:nvSpPr>
          <p:cNvPr id="26" name="Text 24"/>
          <p:cNvSpPr/>
          <p:nvPr/>
        </p:nvSpPr>
        <p:spPr>
          <a:xfrm>
            <a:off x="2794000" y="2664321"/>
            <a:ext cx="54678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Spare (+) or short (−) capacity, m³</a:t>
            </a:r>
            <a:endParaRPr lang="en-US" sz="1200" dirty="0"/>
          </a:p>
        </p:txBody>
      </p:sp>
      <p:sp>
        <p:nvSpPr>
          <p:cNvPr id="27" name="Text 25"/>
          <p:cNvSpPr/>
          <p:nvPr/>
        </p:nvSpPr>
        <p:spPr>
          <a:xfrm>
            <a:off x="2984004" y="3235821"/>
            <a:ext cx="605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45"/>
                </a:solidFill>
                <a:latin typeface="Plus Jakarta Sans" pitchFamily="34" charset="0"/>
                <a:ea typeface="Plus Jakarta Sans" pitchFamily="34" charset="-122"/>
                <a:cs typeface="Plus Jakarta Sans" pitchFamily="34" charset="-120"/>
              </a:rPr>
              <a:t>+1,200</a:t>
            </a:r>
            <a:endParaRPr lang="en-US" sz="1200" dirty="0"/>
          </a:p>
        </p:txBody>
      </p:sp>
      <p:sp>
        <p:nvSpPr>
          <p:cNvPr id="28" name="Shape 26"/>
          <p:cNvSpPr/>
          <p:nvPr/>
        </p:nvSpPr>
        <p:spPr>
          <a:xfrm>
            <a:off x="3033117" y="3474541"/>
            <a:ext cx="406400" cy="152400"/>
          </a:xfrm>
          <a:custGeom>
            <a:avLst/>
            <a:gdLst/>
            <a:ahLst/>
            <a:cxnLst/>
            <a:rect l="l" t="t" r="r" b="b"/>
            <a:pathLst>
              <a:path w="406400" h="152400">
                <a:moveTo>
                  <a:pt x="38100" y="0"/>
                </a:moveTo>
                <a:lnTo>
                  <a:pt x="368300" y="0"/>
                </a:lnTo>
                <a:arcTo hR="38100" wR="38100" stAng="16200000" swAng="5400000"/>
                <a:lnTo>
                  <a:pt x="406400" y="152400"/>
                </a:lnTo>
                <a:lnTo>
                  <a:pt x="0" y="152400"/>
                </a:lnTo>
                <a:lnTo>
                  <a:pt x="0" y="38100"/>
                </a:lnTo>
                <a:arcTo hR="38100" wR="38100" stAng="10800000" swAng="5400000"/>
                <a:close/>
              </a:path>
            </a:pathLst>
          </a:custGeom>
          <a:solidFill>
            <a:srgbClr val="1F6B45"/>
          </a:solidFill>
          <a:ln/>
        </p:spPr>
      </p:sp>
      <p:sp>
        <p:nvSpPr>
          <p:cNvPr id="29" name="Shape 27"/>
          <p:cNvSpPr/>
          <p:nvPr/>
        </p:nvSpPr>
        <p:spPr>
          <a:xfrm>
            <a:off x="2794000" y="3626941"/>
            <a:ext cx="884734" cy="12700"/>
          </a:xfrm>
          <a:prstGeom prst="rect">
            <a:avLst/>
          </a:prstGeom>
          <a:solidFill>
            <a:srgbClr val="1B1F1C"/>
          </a:solidFill>
          <a:ln/>
        </p:spPr>
      </p:sp>
      <p:sp>
        <p:nvSpPr>
          <p:cNvPr id="30" name="Text 28"/>
          <p:cNvSpPr/>
          <p:nvPr/>
        </p:nvSpPr>
        <p:spPr>
          <a:xfrm>
            <a:off x="2989143" y="3639641"/>
            <a:ext cx="49434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Wk 41</a:t>
            </a:r>
            <a:endParaRPr lang="en-US" sz="1200" dirty="0"/>
          </a:p>
        </p:txBody>
      </p:sp>
      <p:sp>
        <p:nvSpPr>
          <p:cNvPr id="31" name="Shape 29"/>
          <p:cNvSpPr/>
          <p:nvPr/>
        </p:nvSpPr>
        <p:spPr>
          <a:xfrm>
            <a:off x="3678734" y="2928441"/>
            <a:ext cx="884833" cy="12700"/>
          </a:xfrm>
          <a:prstGeom prst="rect">
            <a:avLst/>
          </a:prstGeom>
          <a:solidFill>
            <a:srgbClr val="1B1F1C"/>
          </a:solidFill>
          <a:ln/>
        </p:spPr>
      </p:sp>
      <p:sp>
        <p:nvSpPr>
          <p:cNvPr id="32" name="Shape 30"/>
          <p:cNvSpPr/>
          <p:nvPr/>
        </p:nvSpPr>
        <p:spPr>
          <a:xfrm>
            <a:off x="3917950" y="2941141"/>
            <a:ext cx="406400" cy="88900"/>
          </a:xfrm>
          <a:custGeom>
            <a:avLst/>
            <a:gdLst/>
            <a:ahLst/>
            <a:cxnLst/>
            <a:rect l="l" t="t" r="r" b="b"/>
            <a:pathLst>
              <a:path w="406400" h="88900">
                <a:moveTo>
                  <a:pt x="0" y="0"/>
                </a:moveTo>
                <a:lnTo>
                  <a:pt x="406400" y="0"/>
                </a:lnTo>
                <a:lnTo>
                  <a:pt x="406400" y="50800"/>
                </a:lnTo>
                <a:arcTo hR="38100" wR="38100" stAng="0" swAng="5400000"/>
                <a:lnTo>
                  <a:pt x="38100" y="88900"/>
                </a:lnTo>
                <a:arcTo hR="38100" wR="38100" stAng="5400000" swAng="5400000"/>
                <a:lnTo>
                  <a:pt x="0" y="0"/>
                </a:lnTo>
                <a:close/>
              </a:path>
            </a:pathLst>
          </a:custGeom>
          <a:solidFill>
            <a:srgbClr val="B03A2E"/>
          </a:solidFill>
          <a:ln/>
        </p:spPr>
      </p:sp>
      <p:sp>
        <p:nvSpPr>
          <p:cNvPr id="33" name="Text 31"/>
          <p:cNvSpPr/>
          <p:nvPr/>
        </p:nvSpPr>
        <p:spPr>
          <a:xfrm>
            <a:off x="3922018" y="3055441"/>
            <a:ext cx="4779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3A2E"/>
                </a:solidFill>
                <a:latin typeface="Plus Jakarta Sans" pitchFamily="34" charset="0"/>
                <a:ea typeface="Plus Jakarta Sans" pitchFamily="34" charset="-122"/>
                <a:cs typeface="Plus Jakarta Sans" pitchFamily="34" charset="-120"/>
              </a:rPr>
              <a:t>−700</a:t>
            </a:r>
            <a:endParaRPr lang="en-US" sz="1200" dirty="0"/>
          </a:p>
        </p:txBody>
      </p:sp>
      <p:sp>
        <p:nvSpPr>
          <p:cNvPr id="34" name="Text 32"/>
          <p:cNvSpPr/>
          <p:nvPr/>
        </p:nvSpPr>
        <p:spPr>
          <a:xfrm>
            <a:off x="3853021" y="3398341"/>
            <a:ext cx="53625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Wk 42</a:t>
            </a:r>
            <a:endParaRPr lang="en-US" sz="1200" dirty="0"/>
          </a:p>
        </p:txBody>
      </p:sp>
      <p:sp>
        <p:nvSpPr>
          <p:cNvPr id="35" name="Shape 33"/>
          <p:cNvSpPr/>
          <p:nvPr/>
        </p:nvSpPr>
        <p:spPr>
          <a:xfrm>
            <a:off x="4563566" y="2928441"/>
            <a:ext cx="884734" cy="924520"/>
          </a:xfrm>
          <a:prstGeom prst="roundRect">
            <a:avLst>
              <a:gd name="adj" fmla="val 7177"/>
            </a:avLst>
          </a:prstGeom>
          <a:solidFill>
            <a:srgbClr val="FBF1EF"/>
          </a:solidFill>
          <a:ln/>
        </p:spPr>
      </p:sp>
      <p:sp>
        <p:nvSpPr>
          <p:cNvPr id="36" name="Shape 34"/>
          <p:cNvSpPr/>
          <p:nvPr/>
        </p:nvSpPr>
        <p:spPr>
          <a:xfrm>
            <a:off x="4563566" y="2928441"/>
            <a:ext cx="884734" cy="12700"/>
          </a:xfrm>
          <a:prstGeom prst="rect">
            <a:avLst/>
          </a:prstGeom>
          <a:solidFill>
            <a:srgbClr val="1B1F1C"/>
          </a:solidFill>
          <a:ln/>
        </p:spPr>
      </p:sp>
      <p:sp>
        <p:nvSpPr>
          <p:cNvPr id="37" name="Shape 35"/>
          <p:cNvSpPr/>
          <p:nvPr/>
        </p:nvSpPr>
        <p:spPr>
          <a:xfrm>
            <a:off x="4802684" y="2941141"/>
            <a:ext cx="406400" cy="247650"/>
          </a:xfrm>
          <a:custGeom>
            <a:avLst/>
            <a:gdLst/>
            <a:ahLst/>
            <a:cxnLst/>
            <a:rect l="l" t="t" r="r" b="b"/>
            <a:pathLst>
              <a:path w="406400" h="247650">
                <a:moveTo>
                  <a:pt x="0" y="0"/>
                </a:moveTo>
                <a:lnTo>
                  <a:pt x="406400" y="0"/>
                </a:lnTo>
                <a:lnTo>
                  <a:pt x="406400" y="209550"/>
                </a:lnTo>
                <a:arcTo hR="38100" wR="38100" stAng="0" swAng="5400000"/>
                <a:lnTo>
                  <a:pt x="38100" y="247650"/>
                </a:lnTo>
                <a:arcTo hR="38100" wR="38100" stAng="5400000" swAng="5400000"/>
                <a:lnTo>
                  <a:pt x="0" y="0"/>
                </a:lnTo>
                <a:close/>
              </a:path>
            </a:pathLst>
          </a:custGeom>
          <a:solidFill>
            <a:srgbClr val="B03A2E"/>
          </a:solidFill>
          <a:ln/>
        </p:spPr>
      </p:sp>
      <p:sp>
        <p:nvSpPr>
          <p:cNvPr id="38" name="Text 36"/>
          <p:cNvSpPr/>
          <p:nvPr/>
        </p:nvSpPr>
        <p:spPr>
          <a:xfrm>
            <a:off x="4756646" y="3214191"/>
            <a:ext cx="598170" cy="20955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B03A2E"/>
                </a:solidFill>
                <a:latin typeface="Plus Jakarta Sans" pitchFamily="34" charset="0"/>
                <a:ea typeface="Plus Jakarta Sans" pitchFamily="34" charset="-122"/>
                <a:cs typeface="Plus Jakarta Sans" pitchFamily="34" charset="-120"/>
              </a:rPr>
              <a:t>−2,000</a:t>
            </a:r>
            <a:endParaRPr lang="en-US" sz="1050" dirty="0"/>
          </a:p>
        </p:txBody>
      </p:sp>
      <p:sp>
        <p:nvSpPr>
          <p:cNvPr id="39" name="Text 37"/>
          <p:cNvSpPr/>
          <p:nvPr/>
        </p:nvSpPr>
        <p:spPr>
          <a:xfrm>
            <a:off x="4727873" y="3398341"/>
            <a:ext cx="556022"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03A2E"/>
                </a:solidFill>
                <a:latin typeface="Plus Jakarta Sans" pitchFamily="34" charset="0"/>
                <a:ea typeface="Plus Jakarta Sans" pitchFamily="34" charset="-122"/>
                <a:cs typeface="Plus Jakarta Sans" pitchFamily="34" charset="-120"/>
              </a:rPr>
              <a:t>Wk 43</a:t>
            </a:r>
            <a:endParaRPr lang="en-US" sz="1200" dirty="0"/>
          </a:p>
        </p:txBody>
      </p:sp>
      <p:sp>
        <p:nvSpPr>
          <p:cNvPr id="40" name="Text 38"/>
          <p:cNvSpPr/>
          <p:nvPr/>
        </p:nvSpPr>
        <p:spPr>
          <a:xfrm>
            <a:off x="5637609" y="2931021"/>
            <a:ext cx="6074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45"/>
                </a:solidFill>
                <a:latin typeface="Plus Jakarta Sans" pitchFamily="34" charset="0"/>
                <a:ea typeface="Plus Jakarta Sans" pitchFamily="34" charset="-122"/>
                <a:cs typeface="Plus Jakarta Sans" pitchFamily="34" charset="-120"/>
              </a:rPr>
              <a:t>+4,100</a:t>
            </a:r>
            <a:endParaRPr lang="en-US" sz="1200" dirty="0"/>
          </a:p>
        </p:txBody>
      </p:sp>
      <p:sp>
        <p:nvSpPr>
          <p:cNvPr id="41" name="Shape 39"/>
          <p:cNvSpPr/>
          <p:nvPr/>
        </p:nvSpPr>
        <p:spPr>
          <a:xfrm>
            <a:off x="5687516" y="3169741"/>
            <a:ext cx="406400" cy="457200"/>
          </a:xfrm>
          <a:custGeom>
            <a:avLst/>
            <a:gdLst/>
            <a:ahLst/>
            <a:cxnLst/>
            <a:rect l="l" t="t" r="r" b="b"/>
            <a:pathLst>
              <a:path w="406400" h="457200">
                <a:moveTo>
                  <a:pt x="38100" y="0"/>
                </a:moveTo>
                <a:lnTo>
                  <a:pt x="368300" y="0"/>
                </a:lnTo>
                <a:arcTo hR="38100" wR="38100" stAng="16200000" swAng="5400000"/>
                <a:lnTo>
                  <a:pt x="406400" y="457200"/>
                </a:lnTo>
                <a:lnTo>
                  <a:pt x="0" y="457200"/>
                </a:lnTo>
                <a:lnTo>
                  <a:pt x="0" y="38100"/>
                </a:lnTo>
                <a:arcTo hR="38100" wR="38100" stAng="10800000" swAng="5400000"/>
                <a:close/>
              </a:path>
            </a:pathLst>
          </a:custGeom>
          <a:solidFill>
            <a:srgbClr val="1F6B45"/>
          </a:solidFill>
          <a:ln/>
        </p:spPr>
      </p:sp>
      <p:sp>
        <p:nvSpPr>
          <p:cNvPr id="42" name="Shape 40"/>
          <p:cNvSpPr/>
          <p:nvPr/>
        </p:nvSpPr>
        <p:spPr>
          <a:xfrm>
            <a:off x="5448300" y="3626941"/>
            <a:ext cx="884833" cy="12700"/>
          </a:xfrm>
          <a:prstGeom prst="rect">
            <a:avLst/>
          </a:prstGeom>
          <a:solidFill>
            <a:srgbClr val="1B1F1C"/>
          </a:solidFill>
          <a:ln/>
        </p:spPr>
      </p:sp>
      <p:sp>
        <p:nvSpPr>
          <p:cNvPr id="43" name="Text 41"/>
          <p:cNvSpPr/>
          <p:nvPr/>
        </p:nvSpPr>
        <p:spPr>
          <a:xfrm>
            <a:off x="5619849" y="3639641"/>
            <a:ext cx="54173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Wk 44</a:t>
            </a:r>
            <a:endParaRPr lang="en-US" sz="1200" dirty="0"/>
          </a:p>
        </p:txBody>
      </p:sp>
      <p:sp>
        <p:nvSpPr>
          <p:cNvPr id="44" name="Text 42"/>
          <p:cNvSpPr/>
          <p:nvPr/>
        </p:nvSpPr>
        <p:spPr>
          <a:xfrm>
            <a:off x="6504484" y="3108821"/>
            <a:ext cx="6504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45"/>
                </a:solidFill>
                <a:latin typeface="Plus Jakarta Sans" pitchFamily="34" charset="0"/>
                <a:ea typeface="Plus Jakarta Sans" pitchFamily="34" charset="-122"/>
                <a:cs typeface="Plus Jakarta Sans" pitchFamily="34" charset="-120"/>
              </a:rPr>
              <a:t>+2,500</a:t>
            </a:r>
            <a:endParaRPr lang="en-US" sz="1200" dirty="0"/>
          </a:p>
        </p:txBody>
      </p:sp>
      <p:sp>
        <p:nvSpPr>
          <p:cNvPr id="45" name="Shape 43"/>
          <p:cNvSpPr/>
          <p:nvPr/>
        </p:nvSpPr>
        <p:spPr>
          <a:xfrm>
            <a:off x="6572250" y="3347541"/>
            <a:ext cx="406400" cy="279400"/>
          </a:xfrm>
          <a:custGeom>
            <a:avLst/>
            <a:gdLst/>
            <a:ahLst/>
            <a:cxnLst/>
            <a:rect l="l" t="t" r="r" b="b"/>
            <a:pathLst>
              <a:path w="406400" h="279400">
                <a:moveTo>
                  <a:pt x="38100" y="0"/>
                </a:moveTo>
                <a:lnTo>
                  <a:pt x="368300" y="0"/>
                </a:lnTo>
                <a:arcTo hR="38100" wR="38100" stAng="16200000" swAng="5400000"/>
                <a:lnTo>
                  <a:pt x="406400" y="279400"/>
                </a:lnTo>
                <a:lnTo>
                  <a:pt x="0" y="279400"/>
                </a:lnTo>
                <a:lnTo>
                  <a:pt x="0" y="38100"/>
                </a:lnTo>
                <a:arcTo hR="38100" wR="38100" stAng="10800000" swAng="5400000"/>
                <a:close/>
              </a:path>
            </a:pathLst>
          </a:custGeom>
          <a:solidFill>
            <a:srgbClr val="1F6B45"/>
          </a:solidFill>
          <a:ln/>
        </p:spPr>
      </p:sp>
      <p:sp>
        <p:nvSpPr>
          <p:cNvPr id="46" name="Shape 44"/>
          <p:cNvSpPr/>
          <p:nvPr/>
        </p:nvSpPr>
        <p:spPr>
          <a:xfrm>
            <a:off x="6333133" y="3626941"/>
            <a:ext cx="884734" cy="12700"/>
          </a:xfrm>
          <a:prstGeom prst="rect">
            <a:avLst/>
          </a:prstGeom>
          <a:solidFill>
            <a:srgbClr val="1B1F1C"/>
          </a:solidFill>
          <a:ln/>
        </p:spPr>
      </p:sp>
      <p:sp>
        <p:nvSpPr>
          <p:cNvPr id="47" name="Text 45"/>
          <p:cNvSpPr/>
          <p:nvPr/>
        </p:nvSpPr>
        <p:spPr>
          <a:xfrm>
            <a:off x="6505883" y="3639641"/>
            <a:ext cx="53923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Wk 45</a:t>
            </a:r>
            <a:endParaRPr lang="en-US" sz="1200" dirty="0"/>
          </a:p>
        </p:txBody>
      </p:sp>
      <p:sp>
        <p:nvSpPr>
          <p:cNvPr id="48" name="Text 46"/>
          <p:cNvSpPr/>
          <p:nvPr/>
        </p:nvSpPr>
        <p:spPr>
          <a:xfrm>
            <a:off x="7397849" y="3273921"/>
            <a:ext cx="6297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6B45"/>
                </a:solidFill>
                <a:latin typeface="Plus Jakarta Sans" pitchFamily="34" charset="0"/>
                <a:ea typeface="Plus Jakarta Sans" pitchFamily="34" charset="-122"/>
                <a:cs typeface="Plus Jakarta Sans" pitchFamily="34" charset="-120"/>
              </a:rPr>
              <a:t>+1,000</a:t>
            </a:r>
            <a:endParaRPr lang="en-US" sz="1200" dirty="0"/>
          </a:p>
        </p:txBody>
      </p:sp>
      <p:sp>
        <p:nvSpPr>
          <p:cNvPr id="49" name="Shape 47"/>
          <p:cNvSpPr/>
          <p:nvPr/>
        </p:nvSpPr>
        <p:spPr>
          <a:xfrm>
            <a:off x="7456984" y="3512641"/>
            <a:ext cx="406400" cy="114300"/>
          </a:xfrm>
          <a:custGeom>
            <a:avLst/>
            <a:gdLst/>
            <a:ahLst/>
            <a:cxnLst/>
            <a:rect l="l" t="t" r="r" b="b"/>
            <a:pathLst>
              <a:path w="406400" h="114300">
                <a:moveTo>
                  <a:pt x="38100" y="0"/>
                </a:moveTo>
                <a:lnTo>
                  <a:pt x="368300" y="0"/>
                </a:lnTo>
                <a:arcTo hR="38100" wR="38100" stAng="16200000" swAng="5400000"/>
                <a:lnTo>
                  <a:pt x="406400" y="114300"/>
                </a:lnTo>
                <a:lnTo>
                  <a:pt x="0" y="114300"/>
                </a:lnTo>
                <a:lnTo>
                  <a:pt x="0" y="38100"/>
                </a:lnTo>
                <a:arcTo hR="38100" wR="38100" stAng="10800000" swAng="5400000"/>
                <a:close/>
              </a:path>
            </a:pathLst>
          </a:custGeom>
          <a:solidFill>
            <a:srgbClr val="1F6B45"/>
          </a:solidFill>
          <a:ln/>
        </p:spPr>
      </p:sp>
      <p:sp>
        <p:nvSpPr>
          <p:cNvPr id="50" name="Shape 48"/>
          <p:cNvSpPr/>
          <p:nvPr/>
        </p:nvSpPr>
        <p:spPr>
          <a:xfrm>
            <a:off x="7217866" y="3626941"/>
            <a:ext cx="884734" cy="12700"/>
          </a:xfrm>
          <a:prstGeom prst="rect">
            <a:avLst/>
          </a:prstGeom>
          <a:solidFill>
            <a:srgbClr val="1B1F1C"/>
          </a:solidFill>
          <a:ln/>
        </p:spPr>
      </p:sp>
      <p:sp>
        <p:nvSpPr>
          <p:cNvPr id="51" name="Text 49"/>
          <p:cNvSpPr/>
          <p:nvPr/>
        </p:nvSpPr>
        <p:spPr>
          <a:xfrm>
            <a:off x="7392402" y="3639641"/>
            <a:ext cx="53566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Wk 46</a:t>
            </a:r>
            <a:endParaRPr lang="en-US" sz="1200" dirty="0"/>
          </a:p>
        </p:txBody>
      </p:sp>
      <p:sp>
        <p:nvSpPr>
          <p:cNvPr id="52" name="Shape 50"/>
          <p:cNvSpPr/>
          <p:nvPr/>
        </p:nvSpPr>
        <p:spPr>
          <a:xfrm>
            <a:off x="8401050" y="2556371"/>
            <a:ext cx="2781300" cy="2026543"/>
          </a:xfrm>
          <a:prstGeom prst="roundRect">
            <a:avLst>
              <a:gd name="adj" fmla="val 3447"/>
            </a:avLst>
          </a:prstGeom>
          <a:noFill/>
          <a:ln w="12700">
            <a:solidFill>
              <a:srgbClr val="B03A2E"/>
            </a:solidFill>
            <a:prstDash val="solid"/>
          </a:ln>
        </p:spPr>
      </p:sp>
      <p:sp>
        <p:nvSpPr>
          <p:cNvPr id="53" name="Text 51"/>
          <p:cNvSpPr/>
          <p:nvPr/>
        </p:nvSpPr>
        <p:spPr>
          <a:xfrm>
            <a:off x="8534400" y="2664321"/>
            <a:ext cx="25900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3A2E"/>
                </a:solidFill>
                <a:latin typeface="Plus Jakarta Sans" pitchFamily="34" charset="0"/>
                <a:ea typeface="Plus Jakarta Sans" pitchFamily="34" charset="-122"/>
                <a:cs typeface="Plus Jakarta Sans" pitchFamily="34" charset="-120"/>
              </a:rPr>
              <a:t>Week 43 · 2,000 m³ short</a:t>
            </a:r>
            <a:endParaRPr lang="en-US" sz="1200" dirty="0"/>
          </a:p>
        </p:txBody>
      </p:sp>
      <p:sp>
        <p:nvSpPr>
          <p:cNvPr id="54" name="Text 52"/>
          <p:cNvSpPr/>
          <p:nvPr/>
        </p:nvSpPr>
        <p:spPr>
          <a:xfrm>
            <a:off x="8534400" y="2941141"/>
            <a:ext cx="259003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43F"/>
                </a:solidFill>
                <a:latin typeface="Plus Jakarta Sans" pitchFamily="34" charset="0"/>
                <a:ea typeface="Plus Jakarta Sans" pitchFamily="34" charset="-122"/>
                <a:cs typeface="Plus Jakarta Sans" pitchFamily="34" charset="-120"/>
              </a:rPr>
              <a:t>Project A call-off: RM82k a day delay risk</a:t>
            </a:r>
            <a:endParaRPr lang="en-US" sz="1200" dirty="0"/>
          </a:p>
        </p:txBody>
      </p:sp>
      <p:sp>
        <p:nvSpPr>
          <p:cNvPr id="55" name="Text 53"/>
          <p:cNvSpPr/>
          <p:nvPr/>
        </p:nvSpPr>
        <p:spPr>
          <a:xfrm>
            <a:off x="8534400" y="3416002"/>
            <a:ext cx="259003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443F"/>
                </a:solidFill>
                <a:latin typeface="Plus Jakarta Sans" pitchFamily="34" charset="0"/>
                <a:ea typeface="Plus Jakarta Sans" pitchFamily="34" charset="-122"/>
                <a:cs typeface="Plus Jakarta Sans" pitchFamily="34" charset="-120"/>
              </a:rPr>
              <a:t>Contractor B order: RM18k margin</a:t>
            </a:r>
            <a:endParaRPr lang="en-US" sz="1200" dirty="0"/>
          </a:p>
        </p:txBody>
      </p:sp>
      <p:sp>
        <p:nvSpPr>
          <p:cNvPr id="56" name="Text 54"/>
          <p:cNvSpPr/>
          <p:nvPr/>
        </p:nvSpPr>
        <p:spPr>
          <a:xfrm>
            <a:off x="8534400" y="3685183"/>
            <a:ext cx="2590038"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F6B45"/>
                </a:solidFill>
                <a:latin typeface="Plus Jakarta Sans" pitchFamily="34" charset="0"/>
                <a:ea typeface="Plus Jakarta Sans" pitchFamily="34" charset="-122"/>
                <a:cs typeface="Plus Jakarta Sans" pitchFamily="34" charset="-120"/>
              </a:rPr>
              <a:t>Serve Project A. Move B to week 44.</a:t>
            </a:r>
            <a:endParaRPr lang="en-US" sz="1200" dirty="0"/>
          </a:p>
        </p:txBody>
      </p:sp>
      <p:sp>
        <p:nvSpPr>
          <p:cNvPr id="57" name="Text 55"/>
          <p:cNvSpPr/>
          <p:nvPr/>
        </p:nvSpPr>
        <p:spPr>
          <a:xfrm>
            <a:off x="8534400" y="4160044"/>
            <a:ext cx="925612" cy="314920"/>
          </a:xfrm>
          <a:prstGeom prst="roundRect">
            <a:avLst>
              <a:gd name="adj" fmla="val 50000"/>
            </a:avLst>
          </a:prstGeom>
          <a:solidFill>
            <a:srgbClr val="1F6B45"/>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Approve</a:t>
            </a:r>
            <a:endParaRPr lang="en-US" sz="1200" dirty="0"/>
          </a:p>
        </p:txBody>
      </p:sp>
      <p:sp>
        <p:nvSpPr>
          <p:cNvPr id="58" name="Text 56"/>
          <p:cNvSpPr/>
          <p:nvPr/>
        </p:nvSpPr>
        <p:spPr>
          <a:xfrm>
            <a:off x="9542562" y="4166394"/>
            <a:ext cx="871835" cy="302220"/>
          </a:xfrm>
          <a:prstGeom prst="roundRect">
            <a:avLst>
              <a:gd name="adj" fmla="val 50000"/>
            </a:avLst>
          </a:prstGeom>
          <a:noFill/>
          <a:ln w="12700">
            <a:solidFill>
              <a:srgbClr val="1F6B45"/>
            </a:solidFill>
            <a:prstDash val="solid"/>
          </a:ln>
        </p:spPr>
        <p:txBody>
          <a:bodyPr wrap="none" lIns="0" tIns="0" rIns="0" bIns="0" rtlCol="0" anchor="ctr">
            <a:normAutofit/>
          </a:bodyPr>
          <a:lstStyle/>
          <a:p>
            <a:pPr algn="ctr"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Change</a:t>
            </a:r>
            <a:endParaRPr lang="en-US" sz="1200" dirty="0"/>
          </a:p>
        </p:txBody>
      </p:sp>
      <p:sp>
        <p:nvSpPr>
          <p:cNvPr id="59" name="Shape 57"/>
          <p:cNvSpPr/>
          <p:nvPr/>
        </p:nvSpPr>
        <p:spPr>
          <a:xfrm>
            <a:off x="2660650" y="4697214"/>
            <a:ext cx="8521700" cy="1141611"/>
          </a:xfrm>
          <a:prstGeom prst="roundRect">
            <a:avLst>
              <a:gd name="adj" fmla="val 6119"/>
            </a:avLst>
          </a:prstGeom>
          <a:noFill/>
          <a:ln w="12700">
            <a:solidFill>
              <a:srgbClr val="EFEFEA"/>
            </a:solidFill>
            <a:prstDash val="solid"/>
          </a:ln>
        </p:spPr>
      </p:sp>
      <p:sp>
        <p:nvSpPr>
          <p:cNvPr id="60" name="Text 58"/>
          <p:cNvSpPr/>
          <p:nvPr/>
        </p:nvSpPr>
        <p:spPr>
          <a:xfrm>
            <a:off x="2794000" y="4792464"/>
            <a:ext cx="85026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Orders inbox</a:t>
            </a:r>
            <a:endParaRPr lang="en-US" sz="1200" dirty="0"/>
          </a:p>
        </p:txBody>
      </p:sp>
      <p:sp>
        <p:nvSpPr>
          <p:cNvPr id="61" name="Shape 59"/>
          <p:cNvSpPr/>
          <p:nvPr/>
        </p:nvSpPr>
        <p:spPr>
          <a:xfrm>
            <a:off x="2794000" y="5374680"/>
            <a:ext cx="8255000" cy="0"/>
          </a:xfrm>
          <a:prstGeom prst="line">
            <a:avLst/>
          </a:prstGeom>
          <a:noFill/>
          <a:ln w="6350">
            <a:solidFill>
              <a:srgbClr val="EFEFEA"/>
            </a:solidFill>
            <a:prstDash val="solid"/>
          </a:ln>
        </p:spPr>
      </p:sp>
      <p:sp>
        <p:nvSpPr>
          <p:cNvPr id="62" name="Text 60"/>
          <p:cNvSpPr/>
          <p:nvPr/>
        </p:nvSpPr>
        <p:spPr>
          <a:xfrm>
            <a:off x="2794000" y="5094684"/>
            <a:ext cx="939701" cy="238720"/>
          </a:xfrm>
          <a:prstGeom prst="roundRect">
            <a:avLst>
              <a:gd name="adj" fmla="val 21280"/>
            </a:avLst>
          </a:prstGeom>
          <a:solidFill>
            <a:srgbClr val="25A35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WhatsApp</a:t>
            </a:r>
            <a:endParaRPr lang="en-US" sz="1200" dirty="0"/>
          </a:p>
        </p:txBody>
      </p:sp>
      <p:sp>
        <p:nvSpPr>
          <p:cNvPr id="63" name="Text 61"/>
          <p:cNvSpPr/>
          <p:nvPr/>
        </p:nvSpPr>
        <p:spPr>
          <a:xfrm>
            <a:off x="3835301" y="5107384"/>
            <a:ext cx="63140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Project A · 1,500 m³ AAC 100 mm · Tue 20 Oct</a:t>
            </a:r>
            <a:endParaRPr lang="en-US" sz="1200" dirty="0"/>
          </a:p>
        </p:txBody>
      </p:sp>
      <p:sp>
        <p:nvSpPr>
          <p:cNvPr id="64" name="Text 62"/>
          <p:cNvSpPr/>
          <p:nvPr/>
        </p:nvSpPr>
        <p:spPr>
          <a:xfrm>
            <a:off x="10067032" y="5107384"/>
            <a:ext cx="10327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3A2E"/>
                </a:solidFill>
                <a:latin typeface="Plus Jakarta Sans" pitchFamily="34" charset="0"/>
                <a:ea typeface="Plus Jakarta Sans" pitchFamily="34" charset="-122"/>
                <a:cs typeface="Plus Jakarta Sans" pitchFamily="34" charset="-120"/>
              </a:rPr>
              <a:t>Likely · check</a:t>
            </a:r>
            <a:endParaRPr lang="en-US" sz="1200" dirty="0"/>
          </a:p>
        </p:txBody>
      </p:sp>
      <p:sp>
        <p:nvSpPr>
          <p:cNvPr id="65" name="Text 63"/>
          <p:cNvSpPr/>
          <p:nvPr/>
        </p:nvSpPr>
        <p:spPr>
          <a:xfrm>
            <a:off x="2794000" y="5466755"/>
            <a:ext cx="587276" cy="238720"/>
          </a:xfrm>
          <a:prstGeom prst="roundRect">
            <a:avLst>
              <a:gd name="adj" fmla="val 21280"/>
            </a:avLst>
          </a:prstGeom>
          <a:solidFill>
            <a:srgbClr val="646B66"/>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Paper</a:t>
            </a:r>
            <a:endParaRPr lang="en-US" sz="1200" dirty="0"/>
          </a:p>
        </p:txBody>
      </p:sp>
      <p:sp>
        <p:nvSpPr>
          <p:cNvPr id="66" name="Text 64"/>
          <p:cNvSpPr/>
          <p:nvPr/>
        </p:nvSpPr>
        <p:spPr>
          <a:xfrm>
            <a:off x="3482876" y="5479455"/>
            <a:ext cx="645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Contractor C · 600 m³ AAC 150 mm · Thu 29 Oct</a:t>
            </a:r>
            <a:endParaRPr lang="en-US" sz="1200" dirty="0"/>
          </a:p>
        </p:txBody>
      </p:sp>
      <p:sp>
        <p:nvSpPr>
          <p:cNvPr id="67" name="Text 65"/>
          <p:cNvSpPr/>
          <p:nvPr/>
        </p:nvSpPr>
        <p:spPr>
          <a:xfrm>
            <a:off x="9856291" y="5479455"/>
            <a:ext cx="131970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Firm · confirmed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Writer agent output</a:t>
            </a:r>
            <a:endParaRPr lang="en-US" sz="1200" dirty="0"/>
          </a:p>
        </p:txBody>
      </p:sp>
      <p:sp>
        <p:nvSpPr>
          <p:cNvPr id="3" name="Text 1"/>
          <p:cNvSpPr/>
          <p:nvPr>
            <p:ph type="title"/>
          </p:nvPr>
        </p:nvSpPr>
        <p:spPr>
          <a:xfrm>
            <a:off x="812800" y="11023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Generative AI does the writing, people send it</a:t>
            </a:r>
            <a:endParaRPr lang="en-US" sz="2800" dirty="0"/>
          </a:p>
        </p:txBody>
      </p:sp>
      <p:sp>
        <p:nvSpPr>
          <p:cNvPr id="4" name="Text 2"/>
          <p:cNvSpPr/>
          <p:nvPr/>
        </p:nvSpPr>
        <p:spPr>
          <a:xfrm>
            <a:off x="812800" y="1587401"/>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Huddle brief, drafted for the plant manager</a:t>
            </a:r>
            <a:endParaRPr lang="en-US" sz="1200" dirty="0"/>
          </a:p>
        </p:txBody>
      </p:sp>
      <p:sp>
        <p:nvSpPr>
          <p:cNvPr id="5" name="Shape 3"/>
          <p:cNvSpPr/>
          <p:nvPr/>
        </p:nvSpPr>
        <p:spPr>
          <a:xfrm>
            <a:off x="819150" y="1883271"/>
            <a:ext cx="5143500" cy="1965821"/>
          </a:xfrm>
          <a:prstGeom prst="roundRect">
            <a:avLst>
              <a:gd name="adj" fmla="val 4845"/>
            </a:avLst>
          </a:prstGeom>
          <a:solidFill>
            <a:srgbClr val="FFFFFF"/>
          </a:solidFill>
          <a:ln w="12700">
            <a:solidFill>
              <a:srgbClr val="E2E2DC"/>
            </a:solidFill>
            <a:prstDash val="solid"/>
          </a:ln>
        </p:spPr>
      </p:sp>
      <p:sp>
        <p:nvSpPr>
          <p:cNvPr id="6" name="Text 4"/>
          <p:cNvSpPr/>
          <p:nvPr/>
        </p:nvSpPr>
        <p:spPr>
          <a:xfrm>
            <a:off x="1028700" y="2092821"/>
            <a:ext cx="48661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Plant S · this week's decisions</a:t>
            </a:r>
            <a:endParaRPr lang="en-US" sz="1200" dirty="0"/>
          </a:p>
        </p:txBody>
      </p:sp>
      <p:sp>
        <p:nvSpPr>
          <p:cNvPr id="7" name="Text 5"/>
          <p:cNvSpPr/>
          <p:nvPr/>
        </p:nvSpPr>
        <p:spPr>
          <a:xfrm>
            <a:off x="1028700" y="2382341"/>
            <a:ext cx="486613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43F"/>
                </a:solidFill>
                <a:latin typeface="Plus Jakarta Sans" pitchFamily="34" charset="0"/>
                <a:ea typeface="Plus Jakarta Sans" pitchFamily="34" charset="-122"/>
                <a:cs typeface="Plus Jakarta Sans" pitchFamily="34" charset="-120"/>
              </a:rPr>
              <a:t>Week 43 is 2,000 m³ short. Recommended: serve Project A (about RM82,000 a day of delay risk) and move Contractor B to week 44.</a:t>
            </a:r>
            <a:endParaRPr lang="en-US" sz="1200" dirty="0"/>
          </a:p>
        </p:txBody>
      </p:sp>
      <p:sp>
        <p:nvSpPr>
          <p:cNvPr id="8" name="Text 6"/>
          <p:cNvSpPr/>
          <p:nvPr/>
        </p:nvSpPr>
        <p:spPr>
          <a:xfrm>
            <a:off x="1028700" y="3121422"/>
            <a:ext cx="4866132"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43F"/>
                </a:solidFill>
                <a:latin typeface="Plus Jakarta Sans" pitchFamily="34" charset="0"/>
                <a:ea typeface="Plus Jakarta Sans" pitchFamily="34" charset="-122"/>
                <a:cs typeface="Plus Jakarta Sans" pitchFamily="34" charset="-120"/>
              </a:rPr>
              <a:t>Week 42 is 700 m³ short. Covered by AAC pre-built in week 41.</a:t>
            </a:r>
            <a:endParaRPr lang="en-US" sz="1200" dirty="0"/>
          </a:p>
        </p:txBody>
      </p:sp>
      <p:sp>
        <p:nvSpPr>
          <p:cNvPr id="9" name="Text 7"/>
          <p:cNvSpPr/>
          <p:nvPr/>
        </p:nvSpPr>
        <p:spPr>
          <a:xfrm>
            <a:off x="1028700" y="3418582"/>
            <a:ext cx="4866132"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F6B45"/>
                </a:solidFill>
                <a:latin typeface="Plus Jakarta Sans" pitchFamily="34" charset="0"/>
                <a:ea typeface="Plus Jakarta Sans" pitchFamily="34" charset="-122"/>
                <a:cs typeface="Plus Jakarta Sans" pitchFamily="34" charset="-120"/>
              </a:rPr>
              <a:t>Needs your call: one decision, week 43.</a:t>
            </a:r>
            <a:endParaRPr lang="en-US" sz="1200" dirty="0"/>
          </a:p>
        </p:txBody>
      </p:sp>
      <p:sp>
        <p:nvSpPr>
          <p:cNvPr id="10" name="Text 8"/>
          <p:cNvSpPr/>
          <p:nvPr/>
        </p:nvSpPr>
        <p:spPr>
          <a:xfrm>
            <a:off x="6223000" y="1587401"/>
            <a:ext cx="531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Reply to Contractor B, waiting for approval</a:t>
            </a:r>
            <a:endParaRPr lang="en-US" sz="1200" dirty="0"/>
          </a:p>
        </p:txBody>
      </p:sp>
      <p:sp>
        <p:nvSpPr>
          <p:cNvPr id="11" name="Text 9"/>
          <p:cNvSpPr/>
          <p:nvPr/>
        </p:nvSpPr>
        <p:spPr>
          <a:xfrm>
            <a:off x="6223000" y="1876921"/>
            <a:ext cx="5156200" cy="1018480"/>
          </a:xfrm>
          <a:custGeom>
            <a:avLst/>
            <a:gdLst/>
            <a:ahLst/>
            <a:cxnLst/>
            <a:rect l="l" t="t" r="r" b="b"/>
            <a:pathLst>
              <a:path w="5156200" h="1018480">
                <a:moveTo>
                  <a:pt x="152400" y="0"/>
                </a:moveTo>
                <a:lnTo>
                  <a:pt x="5003800" y="0"/>
                </a:lnTo>
                <a:arcTo hR="152400" wR="152400" stAng="16200000" swAng="5400000"/>
                <a:lnTo>
                  <a:pt x="5156200" y="980380"/>
                </a:lnTo>
                <a:arcTo hR="38100" wR="38100" stAng="0" swAng="5400000"/>
                <a:lnTo>
                  <a:pt x="152400" y="1018480"/>
                </a:lnTo>
                <a:arcTo hR="152400" wR="152400" stAng="5400000" swAng="5400000"/>
                <a:lnTo>
                  <a:pt x="0" y="152400"/>
                </a:lnTo>
                <a:arcTo hR="152400" wR="152400" stAng="10800000" swAng="5400000"/>
                <a:close/>
              </a:path>
            </a:pathLst>
          </a:custGeom>
          <a:solidFill>
            <a:srgbClr val="D9FDD3"/>
          </a:solidFill>
          <a:ln/>
        </p:spPr>
        <p:txBody>
          <a:bodyPr wrap="square" lIns="203200" tIns="177800" rIns="60706" bIns="152400" rtlCol="0" anchor="t">
            <a:normAutofit/>
          </a:bodyPr>
          <a:lstStyle/>
          <a:p>
            <a:pPr algn="l" indent="0" marL="0">
              <a:lnSpc>
                <a:spcPts val="1740"/>
              </a:lnSpc>
              <a:buNone/>
            </a:pPr>
            <a:r>
              <a:rPr lang="en-US" sz="1200" dirty="0">
                <a:solidFill>
                  <a:srgbClr val="1B1F1C"/>
                </a:solidFill>
                <a:latin typeface="Plus Jakarta Sans" pitchFamily="34" charset="0"/>
                <a:ea typeface="Plus Jakarta Sans" pitchFamily="34" charset="-122"/>
                <a:cs typeface="Plus Jakarta Sans" pitchFamily="34" charset="-120"/>
              </a:rPr>
              <a:t>Hi, thanks for your order of 1,500 m³ AAC 100 mm. Week 43 is fully booked, but we can deliver from Mon 26 Oct. Shall I lock that in for you?</a:t>
            </a:r>
            <a:endParaRPr lang="en-US" sz="1200" dirty="0"/>
          </a:p>
        </p:txBody>
      </p:sp>
      <p:sp>
        <p:nvSpPr>
          <p:cNvPr id="12" name="Text 10"/>
          <p:cNvSpPr/>
          <p:nvPr/>
        </p:nvSpPr>
        <p:spPr>
          <a:xfrm>
            <a:off x="6223000" y="2971602"/>
            <a:ext cx="1701602" cy="365720"/>
          </a:xfrm>
          <a:prstGeom prst="roundRect">
            <a:avLst>
              <a:gd name="adj" fmla="val 50000"/>
            </a:avLst>
          </a:prstGeom>
          <a:solidFill>
            <a:srgbClr val="1F6B45"/>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Plus Jakarta Sans" pitchFamily="34" charset="0"/>
                <a:ea typeface="Plus Jakarta Sans" pitchFamily="34" charset="-122"/>
                <a:cs typeface="Plus Jakarta Sans" pitchFamily="34" charset="-120"/>
              </a:rPr>
              <a:t>Approve and send</a:t>
            </a:r>
            <a:endParaRPr lang="en-US" sz="1200" dirty="0"/>
          </a:p>
        </p:txBody>
      </p:sp>
      <p:sp>
        <p:nvSpPr>
          <p:cNvPr id="13" name="Text 11"/>
          <p:cNvSpPr/>
          <p:nvPr/>
        </p:nvSpPr>
        <p:spPr>
          <a:xfrm>
            <a:off x="8032552" y="2977952"/>
            <a:ext cx="662781" cy="353020"/>
          </a:xfrm>
          <a:prstGeom prst="roundRect">
            <a:avLst>
              <a:gd name="adj" fmla="val 50000"/>
            </a:avLst>
          </a:prstGeom>
          <a:noFill/>
          <a:ln w="12700">
            <a:solidFill>
              <a:srgbClr val="1F6B45"/>
            </a:solidFill>
            <a:prstDash val="solid"/>
          </a:ln>
        </p:spPr>
        <p:txBody>
          <a:bodyPr wrap="none" lIns="0" tIns="0" rIns="0" bIns="0" rtlCol="0" anchor="ctr">
            <a:normAutofit/>
          </a:bodyPr>
          <a:lstStyle/>
          <a:p>
            <a:pPr algn="ctr"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Edit</a:t>
            </a:r>
            <a:endParaRPr lang="en-US" sz="1200" dirty="0"/>
          </a:p>
        </p:txBody>
      </p:sp>
      <p:sp>
        <p:nvSpPr>
          <p:cNvPr id="14" name="Shape 12"/>
          <p:cNvSpPr/>
          <p:nvPr/>
        </p:nvSpPr>
        <p:spPr>
          <a:xfrm>
            <a:off x="812800" y="3931642"/>
            <a:ext cx="10566400" cy="746720"/>
          </a:xfrm>
          <a:prstGeom prst="roundRect">
            <a:avLst>
              <a:gd name="adj" fmla="val 13606"/>
            </a:avLst>
          </a:prstGeom>
          <a:solidFill>
            <a:srgbClr val="EAF2EC"/>
          </a:solidFill>
          <a:ln/>
        </p:spPr>
      </p:sp>
      <p:sp>
        <p:nvSpPr>
          <p:cNvPr id="15" name="Text 13"/>
          <p:cNvSpPr/>
          <p:nvPr/>
        </p:nvSpPr>
        <p:spPr>
          <a:xfrm>
            <a:off x="1016000" y="4198342"/>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Ask the board</a:t>
            </a:r>
            <a:endParaRPr lang="en-US" sz="1200" dirty="0"/>
          </a:p>
        </p:txBody>
      </p:sp>
      <p:sp>
        <p:nvSpPr>
          <p:cNvPr id="16" name="Text 14"/>
          <p:cNvSpPr/>
          <p:nvPr/>
        </p:nvSpPr>
        <p:spPr>
          <a:xfrm>
            <a:off x="2819400" y="4084042"/>
            <a:ext cx="8607298"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B1F1C"/>
                </a:solidFill>
                <a:latin typeface="Plus Jakarta Sans" pitchFamily="34" charset="0"/>
                <a:ea typeface="Plus Jakarta Sans" pitchFamily="34" charset="-122"/>
                <a:cs typeface="Plus Jakarta Sans" pitchFamily="34" charset="-120"/>
              </a:rPr>
              <a:t>Scheduler:</a:t>
            </a:r>
            <a:r>
              <a:rPr lang="en-US" sz="1200" dirty="0">
                <a:solidFill>
                  <a:srgbClr val="1B1F1C"/>
                </a:solidFill>
                <a:latin typeface="Plus Jakarta Sans" pitchFamily="34" charset="0"/>
                <a:ea typeface="Plus Jakarta Sans" pitchFamily="34" charset="-122"/>
                <a:cs typeface="Plus Jakarta Sans" pitchFamily="34" charset="-120"/>
              </a:rPr>
              <a:t> "Can we take 800 m³ for Johor next week?" </a:t>
            </a:r>
            <a:r>
              <a:rPr lang="en-US" sz="1200" b="1" dirty="0">
                <a:solidFill>
                  <a:srgbClr val="1B1F1C"/>
                </a:solidFill>
                <a:latin typeface="Plus Jakarta Sans" pitchFamily="34" charset="0"/>
                <a:ea typeface="Plus Jakarta Sans" pitchFamily="34" charset="-122"/>
                <a:cs typeface="Plus Jakarta Sans" pitchFamily="34" charset="-120"/>
              </a:rPr>
              <a:t>Agent:</a:t>
            </a:r>
            <a:r>
              <a:rPr lang="en-US" sz="1200" dirty="0">
                <a:solidFill>
                  <a:srgbClr val="1B1F1C"/>
                </a:solidFill>
                <a:latin typeface="Plus Jakarta Sans" pitchFamily="34" charset="0"/>
                <a:ea typeface="Plus Jakarta Sans" pitchFamily="34" charset="-122"/>
                <a:cs typeface="Plus Jakarta Sans" pitchFamily="34" charset="-120"/>
              </a:rPr>
              <a:t> "Yes in week 44, which has 4,100 m³ free. Week 43 would go 2,800 m³ short."</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B66"/>
                </a:solidFill>
                <a:latin typeface="Plus Jakarta Sans" pitchFamily="34" charset="0"/>
                <a:ea typeface="Plus Jakarta Sans" pitchFamily="34" charset="-122"/>
                <a:cs typeface="Plus Jakarta Sans" pitchFamily="34" charset="-120"/>
              </a:rPr>
              <a:t>Illustrative outputs. The numbers come from the rule calculator; the model only writes the words.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Rolling it out: about three months at one plant</a:t>
            </a:r>
            <a:endParaRPr lang="en-US" sz="2800" dirty="0"/>
          </a:p>
        </p:txBody>
      </p:sp>
      <p:sp>
        <p:nvSpPr>
          <p:cNvPr id="3" name="Shape 1"/>
          <p:cNvSpPr/>
          <p:nvPr/>
        </p:nvSpPr>
        <p:spPr>
          <a:xfrm>
            <a:off x="819150" y="1482030"/>
            <a:ext cx="3373934" cy="3014861"/>
          </a:xfrm>
          <a:prstGeom prst="roundRect">
            <a:avLst>
              <a:gd name="adj" fmla="val 3159"/>
            </a:avLst>
          </a:prstGeom>
          <a:solidFill>
            <a:srgbClr val="FFFFFF"/>
          </a:solidFill>
          <a:ln w="12700">
            <a:solidFill>
              <a:srgbClr val="E2E2DC"/>
            </a:solidFill>
            <a:prstDash val="solid"/>
          </a:ln>
        </p:spPr>
      </p:sp>
      <p:sp>
        <p:nvSpPr>
          <p:cNvPr id="4" name="Text 2"/>
          <p:cNvSpPr/>
          <p:nvPr/>
        </p:nvSpPr>
        <p:spPr>
          <a:xfrm>
            <a:off x="1028700" y="1691580"/>
            <a:ext cx="30434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Month 1</a:t>
            </a:r>
            <a:endParaRPr lang="en-US" sz="1200" dirty="0"/>
          </a:p>
        </p:txBody>
      </p:sp>
      <p:sp>
        <p:nvSpPr>
          <p:cNvPr id="5" name="Text 3"/>
          <p:cNvSpPr/>
          <p:nvPr/>
        </p:nvSpPr>
        <p:spPr>
          <a:xfrm>
            <a:off x="1028700" y="2006501"/>
            <a:ext cx="30434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Understand and build</a:t>
            </a:r>
            <a:endParaRPr lang="en-US" sz="2000" dirty="0"/>
          </a:p>
        </p:txBody>
      </p:sp>
      <p:sp>
        <p:nvSpPr>
          <p:cNvPr id="6" name="Text 4"/>
          <p:cNvSpPr/>
          <p:nvPr/>
        </p:nvSpPr>
        <p:spPr>
          <a:xfrm>
            <a:off x="1051306" y="2412901"/>
            <a:ext cx="3015539" cy="9398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Sit with the plant scheduler</a:t>
            </a:r>
            <a:endParaRPr lang="en-US" sz="1200" dirty="0"/>
          </a:p>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Rebuild recent decisions from WhatsApp and paper, and price them</a:t>
            </a:r>
            <a:endParaRPr lang="en-US" sz="1200" dirty="0"/>
          </a:p>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Build the dashboard and the agents</a:t>
            </a:r>
            <a:endParaRPr lang="en-US" sz="1200" dirty="0"/>
          </a:p>
        </p:txBody>
      </p:sp>
      <p:sp>
        <p:nvSpPr>
          <p:cNvPr id="7" name="Text 5"/>
          <p:cNvSpPr/>
          <p:nvPr/>
        </p:nvSpPr>
        <p:spPr>
          <a:xfrm>
            <a:off x="1028700" y="3428901"/>
            <a:ext cx="2954834" cy="629841"/>
          </a:xfrm>
          <a:prstGeom prst="roundRect">
            <a:avLst>
              <a:gd name="adj" fmla="val 12098"/>
            </a:avLst>
          </a:prstGeom>
          <a:solidFill>
            <a:srgbClr val="EAF2EC"/>
          </a:solidFill>
          <a:ln/>
        </p:spPr>
        <p:txBody>
          <a:bodyPr wrap="square" lIns="104682" tIns="79282" rIns="23657" bIns="53882"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By the end: a working dashboard with the plant's real orders</a:t>
            </a:r>
            <a:endParaRPr lang="en-US" sz="1200" dirty="0"/>
          </a:p>
        </p:txBody>
      </p:sp>
      <p:sp>
        <p:nvSpPr>
          <p:cNvPr id="8" name="Shape 6"/>
          <p:cNvSpPr/>
          <p:nvPr/>
        </p:nvSpPr>
        <p:spPr>
          <a:xfrm>
            <a:off x="4408984" y="1482030"/>
            <a:ext cx="3373934" cy="3014861"/>
          </a:xfrm>
          <a:prstGeom prst="roundRect">
            <a:avLst>
              <a:gd name="adj" fmla="val 3159"/>
            </a:avLst>
          </a:prstGeom>
          <a:solidFill>
            <a:srgbClr val="FFFFFF"/>
          </a:solidFill>
          <a:ln w="12700">
            <a:solidFill>
              <a:srgbClr val="E2E2DC"/>
            </a:solidFill>
            <a:prstDash val="solid"/>
          </a:ln>
        </p:spPr>
      </p:sp>
      <p:sp>
        <p:nvSpPr>
          <p:cNvPr id="9" name="Text 7"/>
          <p:cNvSpPr/>
          <p:nvPr/>
        </p:nvSpPr>
        <p:spPr>
          <a:xfrm>
            <a:off x="4618534" y="1691580"/>
            <a:ext cx="30434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Month 2</a:t>
            </a:r>
            <a:endParaRPr lang="en-US" sz="1200" dirty="0"/>
          </a:p>
        </p:txBody>
      </p:sp>
      <p:sp>
        <p:nvSpPr>
          <p:cNvPr id="10" name="Text 8"/>
          <p:cNvSpPr/>
          <p:nvPr/>
        </p:nvSpPr>
        <p:spPr>
          <a:xfrm>
            <a:off x="4618534" y="2006501"/>
            <a:ext cx="30434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Agree and go live</a:t>
            </a:r>
            <a:endParaRPr lang="en-US" sz="2000" dirty="0"/>
          </a:p>
        </p:txBody>
      </p:sp>
      <p:sp>
        <p:nvSpPr>
          <p:cNvPr id="11" name="Text 9"/>
          <p:cNvSpPr/>
          <p:nvPr/>
        </p:nvSpPr>
        <p:spPr>
          <a:xfrm>
            <a:off x="4641140" y="2412901"/>
            <a:ext cx="3015539" cy="9398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Agree the rule with the plant manager and a project director</a:t>
            </a:r>
            <a:endParaRPr lang="en-US" sz="1200" dirty="0"/>
          </a:p>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Start the weekly 30-minute huddle</a:t>
            </a:r>
            <a:endParaRPr lang="en-US" sz="1200" dirty="0"/>
          </a:p>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Log every decision with its ringgit</a:t>
            </a:r>
            <a:endParaRPr lang="en-US" sz="1200" dirty="0"/>
          </a:p>
        </p:txBody>
      </p:sp>
      <p:sp>
        <p:nvSpPr>
          <p:cNvPr id="12" name="Text 10"/>
          <p:cNvSpPr/>
          <p:nvPr/>
        </p:nvSpPr>
        <p:spPr>
          <a:xfrm>
            <a:off x="4618534" y="3428901"/>
            <a:ext cx="2954834" cy="629841"/>
          </a:xfrm>
          <a:prstGeom prst="roundRect">
            <a:avLst>
              <a:gd name="adj" fmla="val 12098"/>
            </a:avLst>
          </a:prstGeom>
          <a:solidFill>
            <a:srgbClr val="EAF2EC"/>
          </a:solidFill>
          <a:ln/>
        </p:spPr>
        <p:txBody>
          <a:bodyPr wrap="square" lIns="104682" tIns="79282" rIns="23657" bIns="53882"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By the end: the plant decides by the rule every week</a:t>
            </a:r>
            <a:endParaRPr lang="en-US" sz="1200" dirty="0"/>
          </a:p>
        </p:txBody>
      </p:sp>
      <p:sp>
        <p:nvSpPr>
          <p:cNvPr id="13" name="Shape 11"/>
          <p:cNvSpPr/>
          <p:nvPr/>
        </p:nvSpPr>
        <p:spPr>
          <a:xfrm>
            <a:off x="7998817" y="1482030"/>
            <a:ext cx="3373934" cy="3014861"/>
          </a:xfrm>
          <a:prstGeom prst="roundRect">
            <a:avLst>
              <a:gd name="adj" fmla="val 3159"/>
            </a:avLst>
          </a:prstGeom>
          <a:solidFill>
            <a:srgbClr val="FFFFFF"/>
          </a:solidFill>
          <a:ln w="12700">
            <a:solidFill>
              <a:srgbClr val="E2E2DC"/>
            </a:solidFill>
            <a:prstDash val="solid"/>
          </a:ln>
        </p:spPr>
      </p:sp>
      <p:sp>
        <p:nvSpPr>
          <p:cNvPr id="14" name="Text 12"/>
          <p:cNvSpPr/>
          <p:nvPr/>
        </p:nvSpPr>
        <p:spPr>
          <a:xfrm>
            <a:off x="8208367" y="1691580"/>
            <a:ext cx="30434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Month 3</a:t>
            </a:r>
            <a:endParaRPr lang="en-US" sz="1200" dirty="0"/>
          </a:p>
        </p:txBody>
      </p:sp>
      <p:sp>
        <p:nvSpPr>
          <p:cNvPr id="15" name="Text 13"/>
          <p:cNvSpPr/>
          <p:nvPr/>
        </p:nvSpPr>
        <p:spPr>
          <a:xfrm>
            <a:off x="8208367" y="2006501"/>
            <a:ext cx="30434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1F1C"/>
                </a:solidFill>
                <a:latin typeface="Plus Jakarta Sans" pitchFamily="34" charset="0"/>
                <a:ea typeface="Plus Jakarta Sans" pitchFamily="34" charset="-122"/>
                <a:cs typeface="Plus Jakarta Sans" pitchFamily="34" charset="-120"/>
              </a:rPr>
              <a:t>Measure and decide</a:t>
            </a:r>
            <a:endParaRPr lang="en-US" sz="2000" dirty="0"/>
          </a:p>
        </p:txBody>
      </p:sp>
      <p:sp>
        <p:nvSpPr>
          <p:cNvPr id="16" name="Text 14"/>
          <p:cNvSpPr/>
          <p:nvPr/>
        </p:nvSpPr>
        <p:spPr>
          <a:xfrm>
            <a:off x="8230973" y="2412901"/>
            <a:ext cx="3015539" cy="11684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Compare cash, margin and delays with before</a:t>
            </a:r>
            <a:endParaRPr lang="en-US" sz="1200" dirty="0"/>
          </a:p>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Fix what didn't work</a:t>
            </a:r>
            <a:endParaRPr lang="en-US" sz="1200" dirty="0"/>
          </a:p>
          <a:p>
            <a:pPr algn="l" marL="155194" indent="-155194">
              <a:lnSpc>
                <a:spcPts val="1800"/>
              </a:lnSpc>
              <a:buSzPct val="100000"/>
              <a:buChar char="•"/>
            </a:pPr>
            <a:r>
              <a:rPr lang="en-US" sz="1200" dirty="0">
                <a:solidFill>
                  <a:srgbClr val="3D443F"/>
                </a:solidFill>
                <a:latin typeface="Plus Jakarta Sans" pitchFamily="34" charset="0"/>
                <a:ea typeface="Plus Jakarta Sans" pitchFamily="34" charset="-122"/>
                <a:cs typeface="Plus Jakarta Sans" pitchFamily="34" charset="-120"/>
              </a:rPr>
              <a:t>Decide whether to roll out to precast and ready-mix</a:t>
            </a:r>
            <a:endParaRPr lang="en-US" sz="1200" dirty="0"/>
          </a:p>
        </p:txBody>
      </p:sp>
      <p:sp>
        <p:nvSpPr>
          <p:cNvPr id="17" name="Text 15"/>
          <p:cNvSpPr/>
          <p:nvPr/>
        </p:nvSpPr>
        <p:spPr>
          <a:xfrm>
            <a:off x="8208367" y="3657501"/>
            <a:ext cx="2954834" cy="629841"/>
          </a:xfrm>
          <a:prstGeom prst="roundRect">
            <a:avLst>
              <a:gd name="adj" fmla="val 12098"/>
            </a:avLst>
          </a:prstGeom>
          <a:solidFill>
            <a:srgbClr val="EAF2EC"/>
          </a:solidFill>
          <a:ln/>
        </p:spPr>
        <p:txBody>
          <a:bodyPr wrap="square" lIns="104682" tIns="79282" rIns="23657" bIns="53882"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By the end: a ringgit result and a go or no-go</a:t>
            </a:r>
            <a:endParaRPr lang="en-US" sz="1200" dirty="0"/>
          </a:p>
        </p:txBody>
      </p:sp>
      <p:sp>
        <p:nvSpPr>
          <p:cNvPr id="18" name="Shape 16"/>
          <p:cNvSpPr/>
          <p:nvPr/>
        </p:nvSpPr>
        <p:spPr>
          <a:xfrm>
            <a:off x="812800" y="4763591"/>
            <a:ext cx="10566400" cy="0"/>
          </a:xfrm>
          <a:prstGeom prst="line">
            <a:avLst/>
          </a:prstGeom>
          <a:noFill/>
          <a:ln w="12700">
            <a:solidFill>
              <a:srgbClr val="E2E2DC"/>
            </a:solidFill>
            <a:prstDash val="solid"/>
          </a:ln>
        </p:spPr>
      </p:sp>
      <p:sp>
        <p:nvSpPr>
          <p:cNvPr id="19" name="Text 17"/>
          <p:cNvSpPr/>
          <p:nvPr/>
        </p:nvSpPr>
        <p:spPr>
          <a:xfrm>
            <a:off x="812800" y="49477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It worked if we see</a:t>
            </a:r>
            <a:endParaRPr lang="en-US" sz="1200" dirty="0"/>
          </a:p>
        </p:txBody>
      </p:sp>
      <p:sp>
        <p:nvSpPr>
          <p:cNvPr id="20" name="Text 18"/>
          <p:cNvSpPr/>
          <p:nvPr/>
        </p:nvSpPr>
        <p:spPr>
          <a:xfrm>
            <a:off x="2921000" y="4947741"/>
            <a:ext cx="27643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Cash released from excess stock</a:t>
            </a:r>
            <a:endParaRPr lang="en-US" sz="1200" dirty="0"/>
          </a:p>
        </p:txBody>
      </p:sp>
      <p:sp>
        <p:nvSpPr>
          <p:cNvPr id="21" name="Text 19"/>
          <p:cNvSpPr/>
          <p:nvPr/>
        </p:nvSpPr>
        <p:spPr>
          <a:xfrm>
            <a:off x="5808067" y="4947741"/>
            <a:ext cx="2764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Outside margin no longer lost</a:t>
            </a:r>
            <a:endParaRPr lang="en-US" sz="1200" dirty="0"/>
          </a:p>
        </p:txBody>
      </p:sp>
      <p:sp>
        <p:nvSpPr>
          <p:cNvPr id="22" name="Text 20"/>
          <p:cNvSpPr/>
          <p:nvPr/>
        </p:nvSpPr>
        <p:spPr>
          <a:xfrm>
            <a:off x="8695234" y="4947741"/>
            <a:ext cx="2764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F1C"/>
                </a:solidFill>
                <a:latin typeface="Plus Jakarta Sans" pitchFamily="34" charset="0"/>
                <a:ea typeface="Plus Jakarta Sans" pitchFamily="34" charset="-122"/>
                <a:cs typeface="Plus Jakarta Sans" pitchFamily="34" charset="-120"/>
              </a:rPr>
              <a:t>Fewer project delay days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812800" y="1542951"/>
            <a:ext cx="10566400" cy="0"/>
          </a:xfrm>
          <a:prstGeom prst="line">
            <a:avLst/>
          </a:prstGeom>
          <a:noFill/>
          <a:ln w="12700">
            <a:solidFill>
              <a:srgbClr val="E2E2DC"/>
            </a:solidFill>
            <a:prstDash val="solid"/>
          </a:ln>
        </p:spPr>
      </p:sp>
      <p:sp>
        <p:nvSpPr>
          <p:cNvPr id="3" name="Text 1"/>
          <p:cNvSpPr/>
          <p:nvPr>
            <p:ph type="title"/>
          </p:nvPr>
        </p:nvSpPr>
        <p:spPr>
          <a:xfrm>
            <a:off x="812800" y="711200"/>
            <a:ext cx="6657411"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1F1C"/>
                </a:solidFill>
                <a:latin typeface="Plus Jakarta Sans" pitchFamily="34" charset="0"/>
                <a:ea typeface="Plus Jakarta Sans" pitchFamily="34" charset="-122"/>
                <a:cs typeface="Plus Jakarta Sans" pitchFamily="34" charset="-120"/>
              </a:rPr>
              <a:t>About me</a:t>
            </a:r>
            <a:endParaRPr lang="en-US" sz="2800" dirty="0"/>
          </a:p>
        </p:txBody>
      </p:sp>
      <p:sp>
        <p:nvSpPr>
          <p:cNvPr id="4" name="Text 2"/>
          <p:cNvSpPr/>
          <p:nvPr/>
        </p:nvSpPr>
        <p:spPr>
          <a:xfrm>
            <a:off x="812800" y="1170880"/>
            <a:ext cx="69037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3F"/>
                </a:solidFill>
                <a:latin typeface="Plus Jakarta Sans" pitchFamily="34" charset="0"/>
                <a:ea typeface="Plus Jakarta Sans" pitchFamily="34" charset="-122"/>
                <a:cs typeface="Plus Jakarta Sans" pitchFamily="34" charset="-120"/>
              </a:rPr>
              <a:t>Fakhrul Azim · Final-year Computer Science, Data Analytics, Universiti Teknologi PETRONAS</a:t>
            </a:r>
            <a:endParaRPr lang="en-US" sz="1200" dirty="0"/>
          </a:p>
        </p:txBody>
      </p:sp>
      <p:sp>
        <p:nvSpPr>
          <p:cNvPr id="5" name="Text 3"/>
          <p:cNvSpPr/>
          <p:nvPr/>
        </p:nvSpPr>
        <p:spPr>
          <a:xfrm>
            <a:off x="7716520" y="957560"/>
            <a:ext cx="3662680" cy="452041"/>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I build agentic and generative AI that people actually use, and I can show the working.</a:t>
            </a:r>
            <a:endParaRPr lang="en-US" sz="1200" dirty="0"/>
          </a:p>
        </p:txBody>
      </p:sp>
      <p:sp>
        <p:nvSpPr>
          <p:cNvPr id="6" name="Text 4"/>
          <p:cNvSpPr/>
          <p:nvPr/>
        </p:nvSpPr>
        <p:spPr>
          <a:xfrm>
            <a:off x="812800" y="1727101"/>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Achievements</a:t>
            </a:r>
            <a:endParaRPr lang="en-US" sz="1200" dirty="0"/>
          </a:p>
        </p:txBody>
      </p:sp>
      <p:sp>
        <p:nvSpPr>
          <p:cNvPr id="7" name="Text 5"/>
          <p:cNvSpPr/>
          <p:nvPr/>
        </p:nvSpPr>
        <p:spPr>
          <a:xfrm>
            <a:off x="812800" y="2054721"/>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Dean's List, three semesters</a:t>
            </a:r>
            <a:endParaRPr lang="en-US" sz="1200" dirty="0"/>
          </a:p>
        </p:txBody>
      </p:sp>
      <p:sp>
        <p:nvSpPr>
          <p:cNvPr id="8" name="Text 6"/>
          <p:cNvSpPr/>
          <p:nvPr/>
        </p:nvSpPr>
        <p:spPr>
          <a:xfrm>
            <a:off x="812800" y="2280741"/>
            <a:ext cx="341843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Universiti Teknologi PETRONAS</a:t>
            </a:r>
            <a:endParaRPr lang="en-US" sz="1200" dirty="0"/>
          </a:p>
        </p:txBody>
      </p:sp>
      <p:sp>
        <p:nvSpPr>
          <p:cNvPr id="9" name="Text 7"/>
          <p:cNvSpPr/>
          <p:nvPr/>
        </p:nvSpPr>
        <p:spPr>
          <a:xfrm>
            <a:off x="812800" y="2600722"/>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IEEE paper accepted, MCAIT 2026</a:t>
            </a:r>
            <a:endParaRPr lang="en-US" sz="1200" dirty="0"/>
          </a:p>
        </p:txBody>
      </p:sp>
      <p:sp>
        <p:nvSpPr>
          <p:cNvPr id="10" name="Text 8"/>
          <p:cNvSpPr/>
          <p:nvPr/>
        </p:nvSpPr>
        <p:spPr>
          <a:xfrm>
            <a:off x="812800" y="2826742"/>
            <a:ext cx="3418433"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Graph-grounded generative interfaces; presenting in Madinah</a:t>
            </a:r>
            <a:endParaRPr lang="en-US" sz="1200" dirty="0"/>
          </a:p>
        </p:txBody>
      </p:sp>
      <p:sp>
        <p:nvSpPr>
          <p:cNvPr id="11" name="Text 9"/>
          <p:cNvSpPr/>
          <p:nvPr/>
        </p:nvSpPr>
        <p:spPr>
          <a:xfrm>
            <a:off x="812800" y="3352403"/>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HACKaSTONE 2026 Grand Final</a:t>
            </a:r>
            <a:endParaRPr lang="en-US" sz="1200" dirty="0"/>
          </a:p>
        </p:txBody>
      </p:sp>
      <p:sp>
        <p:nvSpPr>
          <p:cNvPr id="12" name="Text 10"/>
          <p:cNvSpPr/>
          <p:nvPr/>
        </p:nvSpPr>
        <p:spPr>
          <a:xfrm>
            <a:off x="812800" y="3578423"/>
            <a:ext cx="341843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Qualified for Amsterdam with Team EduNova</a:t>
            </a:r>
            <a:endParaRPr lang="en-US" sz="1200" dirty="0"/>
          </a:p>
        </p:txBody>
      </p:sp>
      <p:sp>
        <p:nvSpPr>
          <p:cNvPr id="13" name="Text 11"/>
          <p:cNvSpPr/>
          <p:nvPr/>
        </p:nvSpPr>
        <p:spPr>
          <a:xfrm>
            <a:off x="812800" y="3898404"/>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Codex Community Day presenter</a:t>
            </a:r>
            <a:endParaRPr lang="en-US" sz="1200" dirty="0"/>
          </a:p>
        </p:txBody>
      </p:sp>
      <p:sp>
        <p:nvSpPr>
          <p:cNvPr id="14" name="Text 12"/>
          <p:cNvSpPr/>
          <p:nvPr/>
        </p:nvSpPr>
        <p:spPr>
          <a:xfrm>
            <a:off x="812800" y="4124424"/>
            <a:ext cx="3418433"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Presented Synapse with Team EduNova</a:t>
            </a:r>
            <a:endParaRPr lang="en-US" sz="1200" dirty="0"/>
          </a:p>
        </p:txBody>
      </p:sp>
      <p:sp>
        <p:nvSpPr>
          <p:cNvPr id="15" name="Text 13"/>
          <p:cNvSpPr/>
          <p:nvPr/>
        </p:nvSpPr>
        <p:spPr>
          <a:xfrm>
            <a:off x="812800" y="4444405"/>
            <a:ext cx="34184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Esports gold, twice</a:t>
            </a:r>
            <a:endParaRPr lang="en-US" sz="1200" dirty="0"/>
          </a:p>
        </p:txBody>
      </p:sp>
      <p:sp>
        <p:nvSpPr>
          <p:cNvPr id="16" name="Text 14"/>
          <p:cNvSpPr/>
          <p:nvPr/>
        </p:nvSpPr>
        <p:spPr>
          <a:xfrm>
            <a:off x="812800" y="4670425"/>
            <a:ext cx="3418433"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SUKIPT and Hotlink MLBB Unilegends; team went on to represent Malaysia in Singapore, 2024</a:t>
            </a:r>
            <a:endParaRPr lang="en-US" sz="1200" dirty="0"/>
          </a:p>
        </p:txBody>
      </p:sp>
      <p:sp>
        <p:nvSpPr>
          <p:cNvPr id="17" name="Text 15"/>
          <p:cNvSpPr/>
          <p:nvPr/>
        </p:nvSpPr>
        <p:spPr>
          <a:xfrm>
            <a:off x="4436467" y="1727101"/>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Projects and experience</a:t>
            </a:r>
            <a:endParaRPr lang="en-US" sz="1200" dirty="0"/>
          </a:p>
        </p:txBody>
      </p:sp>
      <p:sp>
        <p:nvSpPr>
          <p:cNvPr id="18" name="Text 16"/>
          <p:cNvSpPr/>
          <p:nvPr/>
        </p:nvSpPr>
        <p:spPr>
          <a:xfrm>
            <a:off x="4436467" y="20547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VERA AI · PETRONAS internship</a:t>
            </a:r>
            <a:endParaRPr lang="en-US" sz="1200" dirty="0"/>
          </a:p>
        </p:txBody>
      </p:sp>
      <p:sp>
        <p:nvSpPr>
          <p:cNvPr id="19" name="Text 17"/>
          <p:cNvSpPr/>
          <p:nvPr/>
        </p:nvSpPr>
        <p:spPr>
          <a:xfrm>
            <a:off x="4436467" y="2280741"/>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RAG knowledge assistant with strong benchmark results</a:t>
            </a:r>
            <a:endParaRPr lang="en-US" sz="1200" dirty="0"/>
          </a:p>
        </p:txBody>
      </p:sp>
      <p:sp>
        <p:nvSpPr>
          <p:cNvPr id="20" name="Text 18"/>
          <p:cNvSpPr/>
          <p:nvPr/>
        </p:nvSpPr>
        <p:spPr>
          <a:xfrm>
            <a:off x="4436467" y="2806402"/>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Technical Lead, System Automations</a:t>
            </a:r>
            <a:endParaRPr lang="en-US" sz="1200" dirty="0"/>
          </a:p>
        </p:txBody>
      </p:sp>
      <p:sp>
        <p:nvSpPr>
          <p:cNvPr id="21" name="Text 19"/>
          <p:cNvSpPr/>
          <p:nvPr/>
        </p:nvSpPr>
        <p:spPr>
          <a:xfrm>
            <a:off x="4436467" y="3032423"/>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UTP Career Development Office: 14 undocumented Power Automate flows rebuilt</a:t>
            </a:r>
            <a:endParaRPr lang="en-US" sz="1200" dirty="0"/>
          </a:p>
        </p:txBody>
      </p:sp>
      <p:sp>
        <p:nvSpPr>
          <p:cNvPr id="22" name="Text 20"/>
          <p:cNvSpPr/>
          <p:nvPr/>
        </p:nvSpPr>
        <p:spPr>
          <a:xfrm>
            <a:off x="4436467" y="3558084"/>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Arcana · final-year project</a:t>
            </a:r>
            <a:endParaRPr lang="en-US" sz="1200" dirty="0"/>
          </a:p>
        </p:txBody>
      </p:sp>
      <p:sp>
        <p:nvSpPr>
          <p:cNvPr id="23" name="Text 21"/>
          <p:cNvSpPr/>
          <p:nvPr/>
        </p:nvSpPr>
        <p:spPr>
          <a:xfrm>
            <a:off x="4436467" y="3784104"/>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Multi-agent pipeline on LangGraph, GraphRAG and Neo4j</a:t>
            </a:r>
            <a:endParaRPr lang="en-US" sz="1200" dirty="0"/>
          </a:p>
        </p:txBody>
      </p:sp>
      <p:sp>
        <p:nvSpPr>
          <p:cNvPr id="24" name="Text 22"/>
          <p:cNvSpPr/>
          <p:nvPr/>
        </p:nvSpPr>
        <p:spPr>
          <a:xfrm>
            <a:off x="4436467" y="4309765"/>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Synapse · founder, PocketLab</a:t>
            </a:r>
            <a:endParaRPr lang="en-US" sz="1200" dirty="0"/>
          </a:p>
        </p:txBody>
      </p:sp>
      <p:sp>
        <p:nvSpPr>
          <p:cNvPr id="25" name="Text 23"/>
          <p:cNvSpPr/>
          <p:nvPr/>
        </p:nvSpPr>
        <p:spPr>
          <a:xfrm>
            <a:off x="4436467" y="4535785"/>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Adaptive, agentic science learning for SPM students</a:t>
            </a:r>
            <a:endParaRPr lang="en-US" sz="1200" dirty="0"/>
          </a:p>
        </p:txBody>
      </p:sp>
      <p:sp>
        <p:nvSpPr>
          <p:cNvPr id="26" name="Text 24"/>
          <p:cNvSpPr/>
          <p:nvPr/>
        </p:nvSpPr>
        <p:spPr>
          <a:xfrm>
            <a:off x="4436467" y="5061446"/>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OmniX and Axiom · side projects</a:t>
            </a:r>
            <a:endParaRPr lang="en-US" sz="1200" dirty="0"/>
          </a:p>
        </p:txBody>
      </p:sp>
      <p:sp>
        <p:nvSpPr>
          <p:cNvPr id="27" name="Text 25"/>
          <p:cNvSpPr/>
          <p:nvPr/>
        </p:nvSpPr>
        <p:spPr>
          <a:xfrm>
            <a:off x="4436467" y="5287466"/>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Local-first AI creative suite; generative-UI learning platform</a:t>
            </a:r>
            <a:endParaRPr lang="en-US" sz="1200" dirty="0"/>
          </a:p>
        </p:txBody>
      </p:sp>
      <p:sp>
        <p:nvSpPr>
          <p:cNvPr id="28" name="Text 26"/>
          <p:cNvSpPr/>
          <p:nvPr/>
        </p:nvSpPr>
        <p:spPr>
          <a:xfrm>
            <a:off x="8060234" y="1727101"/>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6B45"/>
                </a:solidFill>
                <a:latin typeface="Plus Jakarta Sans" pitchFamily="34" charset="0"/>
                <a:ea typeface="Plus Jakarta Sans" pitchFamily="34" charset="-122"/>
                <a:cs typeface="Plus Jakarta Sans" pitchFamily="34" charset="-120"/>
              </a:rPr>
              <a:t>Leadership</a:t>
            </a:r>
            <a:endParaRPr lang="en-US" sz="1200" dirty="0"/>
          </a:p>
        </p:txBody>
      </p:sp>
      <p:sp>
        <p:nvSpPr>
          <p:cNvPr id="29" name="Text 27"/>
          <p:cNvSpPr/>
          <p:nvPr/>
        </p:nvSpPr>
        <p:spPr>
          <a:xfrm>
            <a:off x="8060234" y="20547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Project Director, Griffin Esports Club</a:t>
            </a:r>
            <a:endParaRPr lang="en-US" sz="1200" dirty="0"/>
          </a:p>
        </p:txBody>
      </p:sp>
      <p:sp>
        <p:nvSpPr>
          <p:cNvPr id="30" name="Text 28"/>
          <p:cNvSpPr/>
          <p:nvPr/>
        </p:nvSpPr>
        <p:spPr>
          <a:xfrm>
            <a:off x="8060234" y="2280741"/>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Led UTP's esports club and ran a 16-team tournament</a:t>
            </a:r>
            <a:endParaRPr lang="en-US" sz="1200" dirty="0"/>
          </a:p>
        </p:txBody>
      </p:sp>
      <p:sp>
        <p:nvSpPr>
          <p:cNvPr id="31" name="Text 29"/>
          <p:cNvSpPr/>
          <p:nvPr/>
        </p:nvSpPr>
        <p:spPr>
          <a:xfrm>
            <a:off x="8060234" y="2806402"/>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LEADX 2.0 Symposium</a:t>
            </a:r>
            <a:endParaRPr lang="en-US" sz="1200" dirty="0"/>
          </a:p>
        </p:txBody>
      </p:sp>
      <p:sp>
        <p:nvSpPr>
          <p:cNvPr id="32" name="Text 30"/>
          <p:cNvSpPr/>
          <p:nvPr/>
        </p:nvSpPr>
        <p:spPr>
          <a:xfrm>
            <a:off x="8060234" y="3032423"/>
            <a:ext cx="3418535"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Sponsorship and Collaboration committee</a:t>
            </a:r>
            <a:endParaRPr lang="en-US" sz="1200" dirty="0"/>
          </a:p>
        </p:txBody>
      </p:sp>
      <p:sp>
        <p:nvSpPr>
          <p:cNvPr id="33" name="Text 31"/>
          <p:cNvSpPr/>
          <p:nvPr/>
        </p:nvSpPr>
        <p:spPr>
          <a:xfrm>
            <a:off x="8060234" y="3352403"/>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GDSC-UTP</a:t>
            </a:r>
            <a:endParaRPr lang="en-US" sz="1200" dirty="0"/>
          </a:p>
        </p:txBody>
      </p:sp>
      <p:sp>
        <p:nvSpPr>
          <p:cNvPr id="34" name="Text 32"/>
          <p:cNvSpPr/>
          <p:nvPr/>
        </p:nvSpPr>
        <p:spPr>
          <a:xfrm>
            <a:off x="8060234" y="3578423"/>
            <a:ext cx="3418535"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Ceremony and Protocol</a:t>
            </a:r>
            <a:endParaRPr lang="en-US" sz="1200" dirty="0"/>
          </a:p>
        </p:txBody>
      </p:sp>
      <p:sp>
        <p:nvSpPr>
          <p:cNvPr id="35" name="Text 33"/>
          <p:cNvSpPr/>
          <p:nvPr/>
        </p:nvSpPr>
        <p:spPr>
          <a:xfrm>
            <a:off x="8060234" y="3898404"/>
            <a:ext cx="3418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1F1C"/>
                </a:solidFill>
                <a:latin typeface="Plus Jakarta Sans" pitchFamily="34" charset="0"/>
                <a:ea typeface="Plus Jakarta Sans" pitchFamily="34" charset="-122"/>
                <a:cs typeface="Plus Jakarta Sans" pitchFamily="34" charset="-120"/>
              </a:rPr>
              <a:t>Korea outreach programme, Seoul</a:t>
            </a:r>
            <a:endParaRPr lang="en-US" sz="1200" dirty="0"/>
          </a:p>
        </p:txBody>
      </p:sp>
      <p:sp>
        <p:nvSpPr>
          <p:cNvPr id="36" name="Text 34"/>
          <p:cNvSpPr/>
          <p:nvPr/>
        </p:nvSpPr>
        <p:spPr>
          <a:xfrm>
            <a:off x="8060234" y="4124424"/>
            <a:ext cx="34185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46B66"/>
                </a:solidFill>
                <a:latin typeface="Plus Jakarta Sans" pitchFamily="34" charset="0"/>
                <a:ea typeface="Plus Jakarta Sans" pitchFamily="34" charset="-122"/>
                <a:cs typeface="Plus Jakarta Sans" pitchFamily="34" charset="-120"/>
              </a:rPr>
              <a:t>Coordinated cultural performances and a food showcase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6B4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7DC"/>
                </a:solidFill>
                <a:latin typeface="Plus Jakarta Sans" pitchFamily="34" charset="0"/>
                <a:ea typeface="Plus Jakarta Sans" pitchFamily="34" charset="-122"/>
                <a:cs typeface="Plus Jakarta Sans" pitchFamily="34" charset="-120"/>
              </a:rPr>
              <a:t>Plant Load Radar · a proposal for Chin Hin Group</a:t>
            </a:r>
            <a:endParaRPr lang="en-US" sz="1200" dirty="0"/>
          </a:p>
        </p:txBody>
      </p:sp>
      <p:sp>
        <p:nvSpPr>
          <p:cNvPr id="3" name="Shape 1"/>
          <p:cNvSpPr/>
          <p:nvPr/>
        </p:nvSpPr>
        <p:spPr>
          <a:xfrm>
            <a:off x="812800" y="2724150"/>
            <a:ext cx="762000" cy="50800"/>
          </a:xfrm>
          <a:prstGeom prst="roundRect">
            <a:avLst>
              <a:gd name="adj" fmla="val 50000"/>
            </a:avLst>
          </a:prstGeom>
          <a:solidFill>
            <a:srgbClr val="FFFFFF"/>
          </a:solidFill>
          <a:ln/>
        </p:spPr>
      </p:sp>
      <p:sp>
        <p:nvSpPr>
          <p:cNvPr id="4" name="Text 2"/>
          <p:cNvSpPr/>
          <p:nvPr>
            <p:ph type="title"/>
          </p:nvPr>
        </p:nvSpPr>
        <p:spPr>
          <a:xfrm>
            <a:off x="812800" y="292735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FFFFF"/>
                </a:solidFill>
                <a:latin typeface="Plus Jakarta Sans" pitchFamily="34" charset="0"/>
                <a:ea typeface="Plus Jakarta Sans" pitchFamily="34" charset="-122"/>
                <a:cs typeface="Plus Jakarta Sans" pitchFamily="34" charset="-120"/>
              </a:rPr>
              <a:t>Thank you</a:t>
            </a:r>
            <a:endParaRPr lang="en-US" sz="4800" dirty="0"/>
          </a:p>
        </p:txBody>
      </p:sp>
      <p:sp>
        <p:nvSpPr>
          <p:cNvPr id="5" name="Text 3"/>
          <p:cNvSpPr/>
          <p:nvPr/>
        </p:nvSpPr>
        <p:spPr>
          <a:xfrm>
            <a:off x="812800" y="3719810"/>
            <a:ext cx="8502650"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D6E7DC"/>
                </a:solidFill>
                <a:latin typeface="Plus Jakarta Sans" pitchFamily="34" charset="0"/>
                <a:ea typeface="Plus Jakarta Sans" pitchFamily="34" charset="-122"/>
                <a:cs typeface="Plus Jakarta Sans" pitchFamily="34" charset="-120"/>
              </a:rPr>
              <a:t>One rule, one owner, one board, and agents doing the legwork.</a:t>
            </a:r>
            <a:endParaRPr lang="en-US" sz="2000" dirty="0"/>
          </a:p>
        </p:txBody>
      </p:sp>
      <p:sp>
        <p:nvSpPr>
          <p:cNvPr id="6" name="Text 4"/>
          <p:cNvSpPr/>
          <p:nvPr/>
        </p:nvSpPr>
        <p:spPr>
          <a:xfrm>
            <a:off x="812800" y="5760740"/>
            <a:ext cx="40182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Plus Jakarta Sans" pitchFamily="34" charset="0"/>
                <a:ea typeface="Plus Jakarta Sans" pitchFamily="34" charset="-122"/>
                <a:cs typeface="Plus Jakarta Sans" pitchFamily="34" charset="-120"/>
              </a:rPr>
              <a:t>Fakhrul Azim Bin Ahmed Mardzukie</a:t>
            </a:r>
            <a:endParaRPr lang="en-US" sz="1600" dirty="0"/>
          </a:p>
        </p:txBody>
      </p:sp>
      <p:sp>
        <p:nvSpPr>
          <p:cNvPr id="7" name="Text 5"/>
          <p:cNvSpPr/>
          <p:nvPr/>
        </p:nvSpPr>
        <p:spPr>
          <a:xfrm>
            <a:off x="8983782" y="5831880"/>
            <a:ext cx="23954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6E7DC"/>
                </a:solidFill>
                <a:latin typeface="Plus Jakarta Sans" pitchFamily="34" charset="0"/>
                <a:ea typeface="Plus Jakarta Sans" pitchFamily="34" charset="-122"/>
                <a:cs typeface="Plus Jakarta Sans" pitchFamily="34" charset="-120"/>
              </a:rPr>
              <a:t>fakhrulazim.am@gmail.com</a:t>
            </a:r>
            <a:endParaRPr lang="en-US" sz="1200" dirty="0"/>
          </a:p>
        </p:txBody>
      </p:sp>
    </p:spTree>
  </p:cSld>
  <p:clrMapOvr>
    <a:masterClrMapping/>
  </p:clrMapOvr>
</p:sld>
</file>

<file path=ppt/theme/theme1.xml><?xml version="1.0" encoding="utf-8"?>
<a:theme xmlns:a="http://schemas.openxmlformats.org/drawingml/2006/main" name="Plant Load Radar - Chin Hin Pre-Interview">
  <a:themeElements>
    <a:clrScheme name="Plant Load Radar - Chin Hin Pre-Interview">
      <a:dk1>
        <a:srgbClr val="1B1F1C"/>
      </a:dk1>
      <a:lt1>
        <a:srgbClr val="FAFAF7"/>
      </a:lt1>
      <a:dk2>
        <a:srgbClr val="535653"/>
      </a:dk2>
      <a:lt2>
        <a:srgbClr val="E4E4E1"/>
      </a:lt2>
      <a:accent1>
        <a:srgbClr val="1F6B45"/>
      </a:accent1>
      <a:accent2>
        <a:srgbClr val="B03A2E"/>
      </a:accent2>
      <a:accent3>
        <a:srgbClr val="D9FDD3"/>
      </a:accent3>
      <a:accent4>
        <a:srgbClr val="16402B"/>
      </a:accent4>
      <a:accent5>
        <a:srgbClr val="25A35A"/>
      </a:accent5>
      <a:accent6>
        <a:srgbClr val="646B66"/>
      </a:accent6>
      <a:hlink>
        <a:srgbClr val="0563C1"/>
      </a:hlink>
      <a:folHlink>
        <a:srgbClr val="954F72"/>
      </a:folHlink>
    </a:clrScheme>
    <a:fontScheme name="Plant Load Radar - Chin Hin Pre-Interview">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Load Radar - Chin Hin Pre-Interview</dc:title>
  <dc:subject/>
  <dc:creator/>
  <cp:lastModifiedBy/>
  <cp:revision>1</cp:revision>
  <dcterms:created xsi:type="dcterms:W3CDTF">2026-10-05T15:00:09Z</dcterms:created>
  <dcterms:modified xsi:type="dcterms:W3CDTF">2026-10-05T15:00:09Z</dcterms:modified>
</cp:coreProperties>
</file>